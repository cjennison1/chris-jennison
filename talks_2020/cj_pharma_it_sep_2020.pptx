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7" r:id="rId4"/>
    <p:sldId id="264" r:id="rId5"/>
    <p:sldId id="265" r:id="rId6"/>
    <p:sldId id="266" r:id="rId7"/>
    <p:sldId id="268" r:id="rId8"/>
    <p:sldId id="270" r:id="rId9"/>
    <p:sldId id="273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316"/>
    <a:srgbClr val="FFBF00"/>
    <a:srgbClr val="FDB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47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47DC2-6E10-4039-8765-B23FBADBFD99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0D2D73-735E-48C7-9635-8B07613A3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44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 his congress, we have heard</a:t>
            </a:r>
            <a:r>
              <a:rPr lang="en-GB" baseline="0" dirty="0" smtClean="0"/>
              <a:t> about: ways of handling </a:t>
            </a:r>
            <a:r>
              <a:rPr lang="en-GB" dirty="0" smtClean="0"/>
              <a:t>data, methods for analysing</a:t>
            </a:r>
            <a:r>
              <a:rPr lang="en-GB" baseline="0" dirty="0" smtClean="0"/>
              <a:t> data, extracting the key information from big data</a:t>
            </a:r>
            <a:r>
              <a:rPr lang="en-GB" dirty="0" smtClean="0"/>
              <a:t>.</a:t>
            </a:r>
          </a:p>
          <a:p>
            <a:r>
              <a:rPr lang="en-GB" dirty="0" smtClean="0"/>
              <a:t>I am </a:t>
            </a:r>
          </a:p>
          <a:p>
            <a:r>
              <a:rPr lang="en-GB" dirty="0" smtClean="0"/>
              <a:t>IN fact 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0D2D73-735E-48C7-9635-8B07613A382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500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05C5-4D2E-488A-A213-8A4E68AA9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F02D5-FD56-4217-A7B1-49C72317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93A36-26F6-476E-BAE1-9CAE8E09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2021C-6E1A-46EE-9805-02039B1B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1FC5C-9835-4939-84BA-8689095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20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855A-B8F3-40FC-A665-21EF43AB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D6CE-115C-4916-A16C-CAAC589DF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1AE71-920D-4EF4-B61F-B7322C6C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B78ED-A284-4E06-ACFF-2DC6088F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1FE39-EB4B-4CA6-AE23-0531F01F0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1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CC01-1EC3-49D2-9EB9-2EE125F6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7DA32-D9D9-4D07-ACA1-C8A90B4B2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0B24-ABEF-4E7E-8093-843B15C63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EAFB-37A3-425A-96C7-6E8E3D62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CA92-208F-467C-95DB-CECB5967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99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D92C-83EE-47E2-BBD5-7961084F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96EF5-BC87-4B5C-A711-DBA14DB42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2A191-73E9-4BCC-BB2F-2F2F2B4E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5FBB3-CE28-4966-A8DC-AD29C660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CEB5D-65F2-4C93-A5B8-A0D0F876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8614D-3DBD-40DB-9ED1-DD058FBE1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85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E0FA-4F20-479B-82B4-CE11B773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52483-8E44-4953-990E-728695FF3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D4463-6C97-49A9-9CF0-3C4C4AD0F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32F8E7-724C-44D8-972F-573C1A4D1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D4C9F6-C9BF-4FB6-9A0A-D49F57CB3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7C59E-3F0C-4A4F-8536-2889940C7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E511C-96B9-4452-AB43-23A6487F1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DDE74-0D61-4D09-9816-EB6BAFB5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95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06C2-DD6D-45D4-9FA6-738C4679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7FAC2-6E0F-402B-A33A-A3679772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74DEB-FD2C-490B-A07D-3FC71B7B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28EEE-0874-49C4-8953-BD05CB95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51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FB546-2387-406A-AD1C-A50E8143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57441-EED9-4455-A811-18AFEDE4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ED883-1B0E-44D5-8A78-58F463C1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15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58CC-C3E3-4681-AECE-C32AC14D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7816D-0252-4AA7-B94C-AA17558A8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267B2-D021-4915-8B4D-D567B3118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FACB8-1672-4B94-A482-3EDC844C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35D22-FABA-4A49-A68A-16B8FBF7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F96D2-CA5F-4C93-A088-38349F6C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27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DDD8-0C11-4216-8FBE-2124CB583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28EE2-A0F4-40A7-851E-C03635AAD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9AE1D-CA0F-4774-8275-0E3B0923D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4F6FC-1DBC-4437-AAB5-252594F3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7DE0A-7570-42A0-8CB6-5B621C87B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CDCDB-E67D-4274-8A86-BC711BBD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86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0488-93A3-45C4-B456-D832BACF9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CE361-D43E-463F-AE61-F1C24700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677E6-B737-4E1C-8C7B-34522BAD4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AECF-7449-480A-8528-C7483A37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CFCE5-1EC2-45A1-B08D-7F0F8EB6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98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79D19-8525-4F87-9E87-FD7C0AD8B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D75EA-B6B3-4BC2-9B05-1FD671229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D858F-718C-421F-948E-8A6CF77A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EC5F-1FE5-4703-BEC2-B57D5508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65765-076D-4A9D-9A47-FA0FDC5A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19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0B739-D451-40E4-B483-A465C0267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D980B-B572-4336-A770-B056F672C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1C37A-D3E3-4F08-8DEF-55C1DE55F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5C739-8B13-4B59-8142-7C641048D087}" type="datetimeFigureOut">
              <a:rPr lang="en-GB" smtClean="0"/>
              <a:t>12/09/2020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64D3C-9BF5-46F6-A25C-FF6AF1123A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CE74B-5FA0-4D3B-8ACC-A3DD5B362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C8E01-D3BA-4928-A64E-3B6C507F6D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05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DF6F-E3A7-4092-9A02-B978CD29B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5233"/>
            <a:ext cx="9144000" cy="15657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800" b="1" dirty="0"/>
              <a:t>Design and Analysis of Adaptive Clinical Trials:</a:t>
            </a:r>
            <a:br>
              <a:rPr lang="en-GB" sz="3800" b="1" dirty="0"/>
            </a:br>
            <a:r>
              <a:rPr lang="en-GB" sz="3800" b="1" dirty="0"/>
              <a:t>Addressing the Study Goals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55AC1-D089-4F1D-B6B3-3C29CAB8A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5758" y="3181610"/>
            <a:ext cx="9192242" cy="348349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500" b="1" dirty="0">
                <a:solidFill>
                  <a:srgbClr val="0070C0"/>
                </a:solidFill>
              </a:rPr>
              <a:t>Professor Chris Jennison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500" b="1" dirty="0">
                <a:solidFill>
                  <a:srgbClr val="0070C0"/>
                </a:solidFill>
              </a:rPr>
              <a:t>University of Bath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500" b="1" dirty="0">
                <a:solidFill>
                  <a:srgbClr val="0070C0"/>
                </a:solidFill>
              </a:rPr>
              <a:t>http://people.bath.ac.uk/mascj</a:t>
            </a:r>
          </a:p>
          <a:p>
            <a:pPr>
              <a:lnSpc>
                <a:spcPct val="100000"/>
              </a:lnSpc>
              <a:spcBef>
                <a:spcPts val="4200"/>
              </a:spcBef>
            </a:pPr>
            <a:r>
              <a:rPr lang="en-GB" sz="3200" b="1" dirty="0">
                <a:solidFill>
                  <a:srgbClr val="EAA316"/>
                </a:solidFill>
              </a:rPr>
              <a:t>18</a:t>
            </a:r>
            <a:r>
              <a:rPr lang="en-GB" sz="3200" b="1" baseline="30000" dirty="0">
                <a:solidFill>
                  <a:srgbClr val="EAA316"/>
                </a:solidFill>
              </a:rPr>
              <a:t>th</a:t>
            </a:r>
            <a:r>
              <a:rPr lang="en-GB" sz="3200" b="1" dirty="0">
                <a:solidFill>
                  <a:srgbClr val="EAA316"/>
                </a:solidFill>
              </a:rPr>
              <a:t> Pharmaceutical IT and Data Congress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b="1" dirty="0">
                <a:solidFill>
                  <a:srgbClr val="EAA316"/>
                </a:solidFill>
              </a:rPr>
              <a:t>25 September 2020</a:t>
            </a:r>
          </a:p>
          <a:p>
            <a:pPr>
              <a:lnSpc>
                <a:spcPts val="4000"/>
              </a:lnSpc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4734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12" y="365126"/>
            <a:ext cx="6013194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Decision making in clinical trials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85" y="1795909"/>
            <a:ext cx="4624628" cy="53416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800"/>
              </a:spcBef>
            </a:pPr>
            <a:r>
              <a:rPr lang="en-US" sz="2400" dirty="0">
                <a:solidFill>
                  <a:srgbClr val="FFFFFF"/>
                </a:solidFill>
              </a:rPr>
              <a:t>What data should we collect?</a:t>
            </a:r>
          </a:p>
          <a:p>
            <a:pPr marL="342900" indent="-2286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How many subjects?</a:t>
            </a:r>
          </a:p>
          <a:p>
            <a:pPr marL="342900" indent="-2286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Which dose for each subject?</a:t>
            </a:r>
          </a:p>
          <a:p>
            <a:pPr marL="114300">
              <a:spcBef>
                <a:spcPts val="3000"/>
              </a:spcBef>
            </a:pPr>
            <a:r>
              <a:rPr lang="en-US" sz="2400" dirty="0">
                <a:solidFill>
                  <a:srgbClr val="FFFFFF"/>
                </a:solidFill>
              </a:rPr>
              <a:t>How to proceed after a Phase I or Phase II trial</a:t>
            </a:r>
          </a:p>
          <a:p>
            <a:pPr marL="4572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Go / No go?</a:t>
            </a:r>
          </a:p>
          <a:p>
            <a:pPr marL="4572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 dose to take forward?</a:t>
            </a:r>
          </a:p>
          <a:p>
            <a:pPr marL="342900" indent="-228600">
              <a:spcBef>
                <a:spcPts val="24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2079B0-C296-4FE6-A174-FB97D0A37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506" y="2484502"/>
            <a:ext cx="5155855" cy="396448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600" b="1" dirty="0" smtClean="0">
                <a:solidFill>
                  <a:srgbClr val="0070C0"/>
                </a:solidFill>
              </a:rPr>
              <a:t>The </a:t>
            </a:r>
            <a:r>
              <a:rPr lang="en-GB" sz="2600" b="1" dirty="0">
                <a:solidFill>
                  <a:srgbClr val="0070C0"/>
                </a:solidFill>
              </a:rPr>
              <a:t>solution needs:</a:t>
            </a:r>
          </a:p>
          <a:p>
            <a:pPr lvl="1">
              <a:lnSpc>
                <a:spcPct val="150000"/>
              </a:lnSpc>
              <a:spcBef>
                <a:spcPts val="1800"/>
              </a:spcBef>
            </a:pPr>
            <a:r>
              <a:rPr lang="en-GB" sz="2600" b="1" dirty="0">
                <a:solidFill>
                  <a:srgbClr val="0070C0"/>
                </a:solidFill>
              </a:rPr>
              <a:t>A model for the data</a:t>
            </a:r>
          </a:p>
          <a:p>
            <a:pPr lvl="1">
              <a:lnSpc>
                <a:spcPct val="150000"/>
              </a:lnSpc>
              <a:spcBef>
                <a:spcPts val="1800"/>
              </a:spcBef>
            </a:pPr>
            <a:r>
              <a:rPr lang="en-GB" sz="2600" b="1" dirty="0">
                <a:solidFill>
                  <a:srgbClr val="0070C0"/>
                </a:solidFill>
              </a:rPr>
              <a:t>A </a:t>
            </a:r>
            <a:r>
              <a:rPr lang="en-GB" sz="2600" b="1" dirty="0" smtClean="0">
                <a:solidFill>
                  <a:srgbClr val="0070C0"/>
                </a:solidFill>
              </a:rPr>
              <a:t>well-formulated </a:t>
            </a:r>
            <a:r>
              <a:rPr lang="en-GB" sz="2600" b="1" dirty="0">
                <a:solidFill>
                  <a:srgbClr val="0070C0"/>
                </a:solidFill>
              </a:rPr>
              <a:t>objective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en-GB" sz="2600" b="1" dirty="0" smtClean="0">
                <a:solidFill>
                  <a:srgbClr val="0070C0"/>
                </a:solidFill>
              </a:rPr>
              <a:t>–</a:t>
            </a:r>
            <a:r>
              <a:rPr lang="en-GB" sz="2600" b="1" dirty="0" smtClean="0">
                <a:solidFill>
                  <a:srgbClr val="0070C0"/>
                </a:solidFill>
              </a:rPr>
              <a:t> recognising the role of this study in the overall drug development process.</a:t>
            </a:r>
            <a:endParaRPr lang="en-GB" sz="2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41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65126"/>
            <a:ext cx="630212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 Phase I: “First in Human” trials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7068" y="2173288"/>
            <a:ext cx="3974303" cy="363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In a trial with healthy volunteers, we aim to:</a:t>
            </a:r>
          </a:p>
          <a:p>
            <a:pPr marL="342900" indent="-2286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Find the maximum safe </a:t>
            </a:r>
            <a:r>
              <a:rPr lang="en-US" sz="2400" dirty="0" smtClean="0">
                <a:solidFill>
                  <a:srgbClr val="FFFFFF"/>
                </a:solidFill>
              </a:rPr>
              <a:t>dose;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Maintain safety of study participants.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0C82F8-1BAE-4658-876D-5B6005A05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9763" y="2028562"/>
            <a:ext cx="4521958" cy="4521958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0812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0CFB-9F97-41A9-B106-7460FD09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0" y="365126"/>
            <a:ext cx="6093286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of a First in Human trial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4089-29A8-417C-AD00-631EAEFD9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079" y="2173287"/>
            <a:ext cx="4145342" cy="44380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3000"/>
              </a:spcBef>
            </a:pPr>
            <a:r>
              <a:rPr lang="en-US" sz="2400" dirty="0">
                <a:solidFill>
                  <a:srgbClr val="FFFFFF"/>
                </a:solidFill>
              </a:rPr>
              <a:t>Treat cohorts of 3 patients</a:t>
            </a:r>
          </a:p>
          <a:p>
            <a:pPr>
              <a:spcBef>
                <a:spcPts val="3000"/>
              </a:spcBef>
            </a:pPr>
            <a:r>
              <a:rPr lang="en-US" sz="2400" dirty="0">
                <a:solidFill>
                  <a:srgbClr val="FFFFFF"/>
                </a:solidFill>
              </a:rPr>
              <a:t>Give cohort 1 the lowest dose</a:t>
            </a:r>
          </a:p>
          <a:p>
            <a:pPr>
              <a:lnSpc>
                <a:spcPct val="130000"/>
              </a:lnSpc>
              <a:spcBef>
                <a:spcPts val="3000"/>
              </a:spcBef>
            </a:pPr>
            <a:r>
              <a:rPr lang="en-US" sz="2400" dirty="0">
                <a:solidFill>
                  <a:srgbClr val="FFFFFF"/>
                </a:solidFill>
              </a:rPr>
              <a:t>Increase the dose for each cohort if it is safe to do so</a:t>
            </a:r>
          </a:p>
          <a:p>
            <a:pPr>
              <a:lnSpc>
                <a:spcPct val="130000"/>
              </a:lnSpc>
              <a:spcBef>
                <a:spcPts val="3000"/>
              </a:spcBef>
            </a:pPr>
            <a:r>
              <a:rPr lang="en-US" sz="2400" dirty="0">
                <a:solidFill>
                  <a:srgbClr val="FFFFFF"/>
                </a:solidFill>
              </a:rPr>
              <a:t>Select the dose for which       </a:t>
            </a:r>
            <a:r>
              <a:rPr lang="en-US" sz="2400" dirty="0" err="1">
                <a:solidFill>
                  <a:srgbClr val="FFFFFF"/>
                </a:solidFill>
              </a:rPr>
              <a:t>Pr</a:t>
            </a:r>
            <a:r>
              <a:rPr lang="en-US" sz="2400" dirty="0">
                <a:solidFill>
                  <a:srgbClr val="FFFFFF"/>
                </a:solidFill>
              </a:rPr>
              <a:t>(Dose limiting event)           is closest to 0.3.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68EEEE5-7B85-471A-8D1B-25D123B150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56" y="1938357"/>
            <a:ext cx="4672952" cy="4672952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9465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215-F131-4BA2-8686-E28536BA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871" y="436206"/>
            <a:ext cx="8205746" cy="1188720"/>
          </a:xfrm>
        </p:spPr>
        <p:txBody>
          <a:bodyPr>
            <a:normAutofit/>
          </a:bodyPr>
          <a:lstStyle/>
          <a:p>
            <a:r>
              <a:rPr lang="en-GB" sz="3500" b="1" dirty="0"/>
              <a:t>Optimising the design:  Bayes decision theory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E5362-8495-429D-AC9B-10D90EDBD4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53363" y="2176271"/>
                <a:ext cx="9367204" cy="4315969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400" dirty="0" smtClean="0"/>
                  <a:t>Specify a model for the dose-response curve.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400" dirty="0"/>
                  <a:t>Elicit a prior distribution for the dose-response curve.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en-GB" sz="2400" dirty="0"/>
                  <a:t>Define an objective function to be minimised, for example,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GB" sz="2400" dirty="0">
                    <a:solidFill>
                      <a:srgbClr val="FF0000"/>
                    </a:solidFill>
                  </a:rPr>
                  <a:t>G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0.3</m:t>
                    </m:r>
                    <m:r>
                      <a:rPr lang="en-GB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400" dirty="0">
                    <a:solidFill>
                      <a:srgbClr val="FF0000"/>
                    </a:solidFill>
                  </a:rPr>
                  <a:t> +  λ x (Number of observed dose limiting events)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sz="2400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sz="2400" dirty="0"/>
                  <a:t> denotes </a:t>
                </a:r>
                <a:r>
                  <a:rPr lang="en-GB" sz="2400" dirty="0" err="1"/>
                  <a:t>Pr</a:t>
                </a:r>
                <a:r>
                  <a:rPr lang="en-GB" sz="2400" dirty="0"/>
                  <a:t>(Dose limiting event) for the selected dose.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1800"/>
                  </a:spcBef>
                  <a:buNone/>
                </a:pPr>
                <a:r>
                  <a:rPr lang="en-GB" sz="2400" dirty="0"/>
                  <a:t>Choose doses for successive cohorts to </a:t>
                </a:r>
                <a:r>
                  <a:rPr lang="en-GB" sz="2400" dirty="0">
                    <a:solidFill>
                      <a:srgbClr val="FF0000"/>
                    </a:solidFill>
                  </a:rPr>
                  <a:t>minimise the average value of G</a:t>
                </a:r>
                <a:r>
                  <a:rPr lang="en-GB" sz="2400" dirty="0"/>
                  <a:t>.</a:t>
                </a:r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E5362-8495-429D-AC9B-10D90EDBD4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3363" y="2176271"/>
                <a:ext cx="9367204" cy="4315969"/>
              </a:xfrm>
              <a:blipFill>
                <a:blip r:embed="rId2"/>
                <a:stretch>
                  <a:fillRect l="-9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43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215-F131-4BA2-8686-E28536BA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3" y="304446"/>
            <a:ext cx="7924813" cy="1188720"/>
          </a:xfrm>
        </p:spPr>
        <p:txBody>
          <a:bodyPr>
            <a:normAutofit/>
          </a:bodyPr>
          <a:lstStyle/>
          <a:p>
            <a:r>
              <a:rPr lang="en-GB" sz="4000" b="1" dirty="0"/>
              <a:t>Optimising by Dynamic Programming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5362-8495-429D-AC9B-10D90EDBD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1"/>
            <a:ext cx="9367204" cy="4315969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There are many millions of possible sequences of dose assignments and outcomes.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400" dirty="0"/>
              <a:t>Nevertheless, Lizzi Pitt, a University of Bath PhD student, has been able to compute the unique optimum design for a given statistical model and objective function G.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400" dirty="0"/>
              <a:t>Additionally, modelling the data that arise in the Dynamic Programming algorithm allows rapid computation of an almost optimal trial design.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38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710"/>
            <a:ext cx="5340605" cy="114617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Phase I trial with safety and efficacy endpoints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608" y="2045889"/>
            <a:ext cx="4263754" cy="436149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</a:rPr>
              <a:t>Suppose an acceptable dose should have</a:t>
            </a:r>
          </a:p>
          <a:p>
            <a:pPr marL="342900" indent="-2286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Pr</a:t>
            </a:r>
            <a:r>
              <a:rPr lang="en-US" sz="2400" dirty="0">
                <a:solidFill>
                  <a:srgbClr val="FFFFFF"/>
                </a:solidFill>
              </a:rPr>
              <a:t>(Efficacy response) &gt; </a:t>
            </a:r>
            <a:r>
              <a:rPr lang="en-US" sz="2400" dirty="0" smtClean="0">
                <a:solidFill>
                  <a:srgbClr val="FFFFFF"/>
                </a:solidFill>
              </a:rPr>
              <a:t>0.5;</a:t>
            </a:r>
            <a:endParaRPr lang="en-US" sz="2400" dirty="0">
              <a:solidFill>
                <a:srgbClr val="FFFFFF"/>
              </a:solidFill>
            </a:endParaRPr>
          </a:p>
          <a:p>
            <a:pPr marL="342900" indent="-2286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Pr</a:t>
            </a:r>
            <a:r>
              <a:rPr lang="en-US" sz="2400" dirty="0">
                <a:solidFill>
                  <a:srgbClr val="FFFFFF"/>
                </a:solidFill>
              </a:rPr>
              <a:t>(Safety event) &lt; 0.3.</a:t>
            </a:r>
          </a:p>
          <a:p>
            <a:pPr marL="114300">
              <a:lnSpc>
                <a:spcPct val="110000"/>
              </a:lnSpc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</a:rPr>
              <a:t>We wish to consider doses meeting these criteria in the subsequent Phase II trial.</a:t>
            </a:r>
          </a:p>
          <a:p>
            <a:pPr marL="114300"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</a:rPr>
              <a:t>Again, optimal trial</a:t>
            </a:r>
          </a:p>
          <a:p>
            <a:pPr marL="114300">
              <a:spcBef>
                <a:spcPts val="600"/>
              </a:spcBef>
            </a:pPr>
            <a:r>
              <a:rPr lang="en-US" sz="2400" dirty="0">
                <a:solidFill>
                  <a:srgbClr val="FFFFFF"/>
                </a:solidFill>
              </a:rPr>
              <a:t>designs can be found.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0C82F8-1BAE-4658-876D-5B6005A05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0748" y="1943043"/>
            <a:ext cx="4521958" cy="4521958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989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36" y="365126"/>
            <a:ext cx="5823570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2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 Dose selection after Phase I</a:t>
            </a:r>
            <a:r>
              <a:rPr lang="en-US" sz="3600" b="1" dirty="0"/>
              <a:t>I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5255" y="2173288"/>
            <a:ext cx="4585157" cy="36396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After a Phase II trial is completed:</a:t>
            </a:r>
          </a:p>
          <a:p>
            <a:pPr marL="342900" indent="-2286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Is a Phase III trial worthwhile?</a:t>
            </a:r>
          </a:p>
          <a:p>
            <a:pPr marL="342900" indent="-22860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Which dose, or doses, should be tested vs control?</a:t>
            </a:r>
          </a:p>
          <a:p>
            <a:pPr marL="342900" indent="-228600">
              <a:lnSpc>
                <a:spcPct val="100000"/>
              </a:lnSpc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How large should the Phase III trial be?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0C82F8-1BAE-4658-876D-5B6005A05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9763" y="2028562"/>
            <a:ext cx="4521958" cy="4521958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45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710"/>
            <a:ext cx="5340605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GB" sz="3600" b="1" dirty="0"/>
              <a:t>Problem formulation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2EB2228-4E0A-4C4E-A84D-38918FE96DD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91929" y="1690688"/>
                <a:ext cx="4965550" cy="4933812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spcBef>
                    <a:spcPts val="0"/>
                  </a:spcBef>
                </a:pPr>
                <a:r>
                  <a:rPr lang="en-GB" sz="2400" b="1" i="1" dirty="0">
                    <a:solidFill>
                      <a:schemeClr val="bg1"/>
                    </a:solidFill>
                  </a:rPr>
                  <a:t>Ultimate goal</a:t>
                </a: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A positive Phase III trial and regulatory approval of the new drug.</a:t>
                </a:r>
              </a:p>
              <a:p>
                <a:pPr>
                  <a:spcBef>
                    <a:spcPts val="3000"/>
                  </a:spcBef>
                </a:pPr>
                <a:r>
                  <a:rPr lang="en-GB" sz="2400" b="1" i="1" dirty="0">
                    <a:solidFill>
                      <a:schemeClr val="bg1"/>
                    </a:solidFill>
                  </a:rPr>
                  <a:t>Objective function to maximise</a:t>
                </a:r>
                <a:endParaRPr lang="en-GB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24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sz="2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𝑆𝑢𝑐𝑐𝑒𝑠𝑠</m:t>
                        </m:r>
                      </m:sub>
                    </m:sSub>
                    <m:r>
                      <a:rPr lang="en-GB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Cost of Phase III trial</a:t>
                </a:r>
              </a:p>
              <a:p>
                <a:pPr>
                  <a:spcBef>
                    <a:spcPts val="3000"/>
                  </a:spcBef>
                </a:pPr>
                <a:r>
                  <a:rPr lang="en-GB" sz="2200" dirty="0">
                    <a:solidFill>
                      <a:schemeClr val="bg1"/>
                    </a:solidFill>
                  </a:rPr>
                  <a:t>Where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200" dirty="0">
                    <a:solidFill>
                      <a:schemeClr val="bg1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𝑆𝑢𝑐𝑐𝑒𝑠𝑠</m:t>
                        </m:r>
                      </m:sub>
                    </m:sSub>
                    <m:r>
                      <a:rPr lang="en-GB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200" dirty="0">
                    <a:solidFill>
                      <a:schemeClr val="bg1"/>
                    </a:solidFill>
                  </a:rPr>
                  <a:t>  1,  If Phase III trial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200" dirty="0">
                    <a:solidFill>
                      <a:schemeClr val="bg1"/>
                    </a:solidFill>
                  </a:rPr>
                  <a:t>	                 successful</a:t>
                </a:r>
                <a:endParaRPr lang="en-GB" sz="2200" i="1" dirty="0">
                  <a:solidFill>
                    <a:schemeClr val="bg1"/>
                  </a:solidFill>
                </a:endParaRPr>
              </a:p>
              <a:p>
                <a:r>
                  <a:rPr lang="en-GB" sz="2200" i="1" dirty="0">
                    <a:solidFill>
                      <a:schemeClr val="bg1"/>
                    </a:solidFill>
                  </a:rPr>
                  <a:t>	         </a:t>
                </a:r>
                <a:r>
                  <a:rPr lang="en-GB" sz="2200" dirty="0">
                    <a:solidFill>
                      <a:schemeClr val="bg1"/>
                    </a:solidFill>
                  </a:rPr>
                  <a:t>0,  Otherwise.</a:t>
                </a:r>
                <a:endParaRPr lang="en-US" sz="22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2EB2228-4E0A-4C4E-A84D-38918FE96D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91929" y="1690688"/>
                <a:ext cx="4965550" cy="4933812"/>
              </a:xfrm>
              <a:blipFill>
                <a:blip r:embed="rId2"/>
                <a:stretch>
                  <a:fillRect l="-1840" r="-2699" b="-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7202CF-7D2E-4766-BE67-E47A6C583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7929" y="1901163"/>
            <a:ext cx="5821266" cy="46434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i="1" dirty="0"/>
              <a:t>Statistical model</a:t>
            </a:r>
          </a:p>
          <a:p>
            <a:pPr marL="0" indent="0">
              <a:lnSpc>
                <a:spcPct val="100000"/>
              </a:lnSpc>
              <a:spcBef>
                <a:spcPts val="2400"/>
              </a:spcBef>
              <a:buNone/>
            </a:pPr>
            <a:r>
              <a:rPr lang="en-GB" sz="2400" dirty="0"/>
              <a:t>Efficacy vs Dose curve, e.g., an </a:t>
            </a:r>
            <a:r>
              <a:rPr lang="en-GB" sz="2400" dirty="0" err="1"/>
              <a:t>Emax</a:t>
            </a:r>
            <a:r>
              <a:rPr lang="en-GB" sz="2400" dirty="0"/>
              <a:t> model</a:t>
            </a:r>
          </a:p>
          <a:p>
            <a:pPr marL="0" indent="0">
              <a:lnSpc>
                <a:spcPct val="110000"/>
              </a:lnSpc>
              <a:spcBef>
                <a:spcPts val="2400"/>
              </a:spcBef>
              <a:buNone/>
            </a:pPr>
            <a:r>
              <a:rPr lang="en-GB" sz="2400" dirty="0"/>
              <a:t>Posterior distribution for model parameters, given Phase II data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GB" sz="2400" b="1" i="1" dirty="0"/>
              <a:t>Decision options</a:t>
            </a:r>
          </a:p>
          <a:p>
            <a:pPr lvl="1">
              <a:spcBef>
                <a:spcPts val="2400"/>
              </a:spcBef>
            </a:pPr>
            <a:r>
              <a:rPr lang="en-GB" sz="2400" dirty="0"/>
              <a:t>Phase III:  Yes or no?</a:t>
            </a:r>
          </a:p>
          <a:p>
            <a:pPr lvl="1">
              <a:spcBef>
                <a:spcPts val="2400"/>
              </a:spcBef>
            </a:pPr>
            <a:r>
              <a:rPr lang="en-GB" sz="2400" dirty="0"/>
              <a:t>Which dose to test in Phase III</a:t>
            </a:r>
          </a:p>
          <a:p>
            <a:pPr lvl="1">
              <a:spcBef>
                <a:spcPts val="2400"/>
              </a:spcBef>
            </a:pPr>
            <a:r>
              <a:rPr lang="en-GB" sz="2400" dirty="0"/>
              <a:t>Sample size for Phase III trial</a:t>
            </a:r>
          </a:p>
        </p:txBody>
      </p:sp>
    </p:spTree>
    <p:extLst>
      <p:ext uri="{BB962C8B-B14F-4D97-AF65-F5344CB8AC3E}">
        <p14:creationId xmlns:p14="http://schemas.microsoft.com/office/powerpoint/2010/main" val="161751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215-F131-4BA2-8686-E28536BA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128" y="369492"/>
            <a:ext cx="8661595" cy="1188720"/>
          </a:xfrm>
        </p:spPr>
        <p:txBody>
          <a:bodyPr>
            <a:normAutofit/>
          </a:bodyPr>
          <a:lstStyle/>
          <a:p>
            <a:r>
              <a:rPr lang="en-GB" sz="4000" b="1" dirty="0"/>
              <a:t>Optimising Phase II and Phase III trials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5362-8495-429D-AC9B-10D90EDBD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768" y="1828801"/>
            <a:ext cx="10371972" cy="4663440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Robbie Peck, a University of Bath PhD student, has produced methods for joint optimisation of Phase II and Phase III trials.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buNone/>
            </a:pPr>
            <a:r>
              <a:rPr lang="en-GB" sz="2400" b="1" i="1" dirty="0"/>
              <a:t>In a group sequential Phase III trial: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GB" sz="2400" dirty="0"/>
              <a:t>Maximum sample size is set to give high power for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400" dirty="0"/>
              <a:t>a small, but clinically relevant, treatment effect.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GB" sz="2400" dirty="0"/>
              <a:t>However, the trial will most likely stop early with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400" dirty="0"/>
              <a:t>a smaller sample size when the treatment effect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400" dirty="0"/>
              <a:t>is larger than this.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06B4861-2A8A-43B7-A4DD-D24817629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6041" y="2828334"/>
            <a:ext cx="3592202" cy="359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9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36" y="365126"/>
            <a:ext cx="5823570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/>
              <a:t>Portfolio management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411" y="1894998"/>
            <a:ext cx="5039067" cy="47890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A company must share finite resources between compounds, at different stages of development</a:t>
            </a:r>
          </a:p>
          <a:p>
            <a:pPr marL="342900" indent="-22860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Robbie Peck worked </a:t>
            </a:r>
            <a:r>
              <a:rPr lang="en-US" sz="2400" dirty="0" smtClean="0">
                <a:solidFill>
                  <a:srgbClr val="FFFFFF"/>
                </a:solidFill>
              </a:rPr>
              <a:t>with Nitin </a:t>
            </a:r>
            <a:r>
              <a:rPr lang="en-US" sz="2400" dirty="0">
                <a:solidFill>
                  <a:srgbClr val="FFFFFF"/>
                </a:solidFill>
              </a:rPr>
              <a:t>Patel</a:t>
            </a:r>
          </a:p>
          <a:p>
            <a:pPr marL="114300"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   (</a:t>
            </a:r>
            <a:r>
              <a:rPr lang="en-US" sz="2400" dirty="0" err="1">
                <a:solidFill>
                  <a:srgbClr val="FFFFFF"/>
                </a:solidFill>
              </a:rPr>
              <a:t>Cytel</a:t>
            </a:r>
            <a:r>
              <a:rPr lang="en-US" sz="2400" dirty="0">
                <a:solidFill>
                  <a:srgbClr val="FFFFFF"/>
                </a:solidFill>
              </a:rPr>
              <a:t>) and CJ (Univ of Bath) to</a:t>
            </a:r>
          </a:p>
          <a:p>
            <a:pPr marL="114300"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   develop a model this process</a:t>
            </a:r>
          </a:p>
          <a:p>
            <a:pPr marL="114300"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   and optimize its management</a:t>
            </a:r>
          </a:p>
          <a:p>
            <a:pPr marL="342900" indent="-22860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Dynamic Programming can</a:t>
            </a:r>
          </a:p>
          <a:p>
            <a:pPr marL="114300"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   be used to solve complex</a:t>
            </a:r>
          </a:p>
          <a:p>
            <a:pPr marL="114300">
              <a:lnSpc>
                <a:spcPct val="11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   portfolio problems.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0C82F8-1BAE-4658-876D-5B6005A05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79763" y="2028562"/>
            <a:ext cx="4521958" cy="4521958"/>
          </a:xfrm>
          <a:custGeom>
            <a:avLst/>
            <a:gdLst/>
            <a:ahLst/>
            <a:cxnLst/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192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36" y="365126"/>
            <a:ext cx="5823570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r>
              <a:rPr lang="en-US" sz="3600" b="1" dirty="0"/>
              <a:t>. Phase III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“enrichment” </a:t>
            </a:r>
            <a:r>
              <a:rPr lang="en-US" sz="3600" b="1" dirty="0"/>
              <a:t>trials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B2228-4E0A-4C4E-A84D-38918FE96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833" y="1782750"/>
            <a:ext cx="4460167" cy="4433853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A new treatment is expected to be particularly effective for patients exhibiting a certain biomarker.</a:t>
            </a:r>
          </a:p>
          <a:p>
            <a:pPr marL="342900" indent="-2286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Should we restrict the Phase III trial biomarker positive patients?</a:t>
            </a:r>
          </a:p>
          <a:p>
            <a:pPr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</a:rPr>
              <a:t>An “Enrichment trial” starts by recruiting from the full population. </a:t>
            </a:r>
          </a:p>
          <a:p>
            <a:pPr>
              <a:spcBef>
                <a:spcPts val="2400"/>
              </a:spcBef>
            </a:pPr>
            <a:r>
              <a:rPr lang="en-US" sz="2400" dirty="0">
                <a:solidFill>
                  <a:srgbClr val="FFFFFF"/>
                </a:solidFill>
              </a:rPr>
              <a:t>The </a:t>
            </a:r>
            <a:r>
              <a:rPr lang="en-US" sz="2400" dirty="0" err="1">
                <a:solidFill>
                  <a:srgbClr val="FFFFFF"/>
                </a:solidFill>
              </a:rPr>
              <a:t>triaI</a:t>
            </a:r>
            <a:r>
              <a:rPr lang="en-US" sz="2400" dirty="0">
                <a:solidFill>
                  <a:srgbClr val="FFFFFF"/>
                </a:solidFill>
              </a:rPr>
              <a:t> “adapts” and focuses on biomarker positive patients if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FFFFFF"/>
                </a:solidFill>
              </a:rPr>
              <a:t>interim data support this change.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39EC6E-5EDB-4027-A81A-EDB190093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14983"/>
            <a:ext cx="5984167" cy="470948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800" b="1" dirty="0"/>
              <a:t>Designing an adaptive enrichment trial</a:t>
            </a:r>
            <a:endParaRPr lang="en-GB" sz="2400" dirty="0"/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GB" sz="2400" b="1" i="1" dirty="0"/>
              <a:t>Adaptive trial design</a:t>
            </a:r>
            <a:endParaRPr lang="en-GB" sz="2400" dirty="0"/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GB" sz="2400" dirty="0"/>
              <a:t>Multiple hypothesis testing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GB" sz="2400" dirty="0"/>
              <a:t>Combination tests (to combine data from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400" dirty="0"/>
              <a:t>    before and after the interim analysis)</a:t>
            </a:r>
          </a:p>
          <a:p>
            <a:pPr marL="0" indent="0">
              <a:lnSpc>
                <a:spcPct val="110000"/>
              </a:lnSpc>
              <a:spcBef>
                <a:spcPts val="1800"/>
              </a:spcBef>
              <a:buNone/>
            </a:pPr>
            <a:r>
              <a:rPr lang="en-GB" sz="2400" b="1" i="1" dirty="0"/>
              <a:t>Gain function to maximise, proportional to: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GB" sz="2400" dirty="0"/>
              <a:t>The size of population in which the new treatment is proved to be </a:t>
            </a:r>
            <a:r>
              <a:rPr lang="en-GB" sz="2400" dirty="0" smtClean="0"/>
              <a:t>effective</a:t>
            </a:r>
            <a:endParaRPr lang="en-GB" sz="2400" dirty="0"/>
          </a:p>
          <a:p>
            <a:pPr>
              <a:lnSpc>
                <a:spcPct val="110000"/>
              </a:lnSpc>
              <a:spcBef>
                <a:spcPts val="1800"/>
              </a:spcBef>
            </a:pPr>
            <a:r>
              <a:rPr lang="en-GB" sz="2400" dirty="0"/>
              <a:t>The average treatment effect in this population.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3919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ECA-B471-434A-B421-56F2FBD8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33" y="365126"/>
            <a:ext cx="6242918" cy="11461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 err="1"/>
              <a:t>Optimising</a:t>
            </a:r>
            <a:r>
              <a:rPr lang="en-US" sz="3600" b="1" dirty="0"/>
              <a:t> an 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enrichment </a:t>
            </a:r>
            <a:r>
              <a:rPr lang="en-US" sz="3600" b="1" dirty="0"/>
              <a:t>design</a:t>
            </a:r>
            <a:endParaRPr 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C7EBC3-4672-4DAB-81C2-58661FAFAE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BF962F-4C6F-461E-86F2-C43F56CC9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94A4F7-38E4-45EA-8E2E-CE1B5766B4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2EB2228-4E0A-4C4E-A84D-38918FE96DD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1833" y="1782750"/>
                <a:ext cx="5032489" cy="4710124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GB" sz="2400" b="1" i="1" dirty="0">
                    <a:solidFill>
                      <a:schemeClr val="bg1"/>
                    </a:solidFill>
                  </a:rPr>
                  <a:t>The statistical model</a:t>
                </a:r>
                <a:endParaRPr lang="en-GB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24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Treatment effect (new vs control)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  In biomarker positive patients: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  In biomarker negative patients: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24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Prior distribution for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3000"/>
                  </a:spcBef>
                </a:pPr>
                <a:r>
                  <a:rPr lang="en-GB" sz="2400" b="1" i="1" dirty="0">
                    <a:solidFill>
                      <a:schemeClr val="bg1"/>
                    </a:solidFill>
                  </a:rPr>
                  <a:t>The decision to enrich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   is based on interim</a:t>
                </a:r>
              </a:p>
              <a:p>
                <a:pPr>
                  <a:spcBef>
                    <a:spcPts val="1800"/>
                  </a:spcBef>
                </a:pPr>
                <a:r>
                  <a:rPr lang="en-GB" sz="2400" dirty="0">
                    <a:solidFill>
                      <a:schemeClr val="bg1"/>
                    </a:solidFill>
                  </a:rPr>
                  <a:t>   estimates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GB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GB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GB" sz="2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24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GB" sz="24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2EB2228-4E0A-4C4E-A84D-38918FE96D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1833" y="1782750"/>
                <a:ext cx="5032489" cy="4710124"/>
              </a:xfrm>
              <a:blipFill>
                <a:blip r:embed="rId2"/>
                <a:stretch>
                  <a:fillRect l="-1816" t="-1035" b="-23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30B38F-E0C9-465B-8608-4AEBA6AB8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941" y="3060609"/>
            <a:ext cx="3417205" cy="167422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400" dirty="0"/>
              <a:t>  </a:t>
            </a:r>
            <a:r>
              <a:rPr lang="en-GB" sz="2200" dirty="0"/>
              <a:t>University of Bath PhD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200" dirty="0"/>
              <a:t>student, Thomas Burnett, has derived Bayes optimal enrichment designs.</a:t>
            </a:r>
          </a:p>
          <a:p>
            <a:pPr marL="0" indent="0">
              <a:spcBef>
                <a:spcPts val="0"/>
              </a:spcBef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9" name="Picture 8" descr="A close up of a map&#10;&#10;Description automatically generated">
            <a:extLst>
              <a:ext uri="{FF2B5EF4-FFF2-40B4-BE49-F238E27FC236}">
                <a16:creationId xmlns:a16="http://schemas.microsoft.com/office/drawing/2014/main" id="{1C8D370B-7D75-4793-8E71-848CB560F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992" y="1846093"/>
            <a:ext cx="3257132" cy="32571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164D0C-37D5-4AEC-9E5B-126FD6324499}"/>
                  </a:ext>
                </a:extLst>
              </p:cNvPr>
              <p:cNvSpPr txBox="1"/>
              <p:nvPr/>
            </p:nvSpPr>
            <p:spPr>
              <a:xfrm>
                <a:off x="4712340" y="5258630"/>
                <a:ext cx="7367827" cy="152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0" dirty="0" smtClean="0"/>
                  <a:t>We have assessed the benefits of such designs:</a:t>
                </a:r>
              </a:p>
              <a:p>
                <a:pPr>
                  <a:spcBef>
                    <a:spcPts val="600"/>
                  </a:spcBef>
                </a:pPr>
                <a:r>
                  <a:rPr lang="en-GB" sz="2200" dirty="0"/>
                  <a:t>These depend strongly on prior beliefs or assumptions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200" dirty="0" smtClean="0"/>
                  <a:t> – but </a:t>
                </a:r>
                <a:r>
                  <a:rPr lang="en-GB" sz="2200" dirty="0"/>
                  <a:t>there clearly are situations where adaptive enrichment designs are appropriate.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164D0C-37D5-4AEC-9E5B-126FD6324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40" y="5258630"/>
                <a:ext cx="7367827" cy="1523494"/>
              </a:xfrm>
              <a:prstGeom prst="rect">
                <a:avLst/>
              </a:prstGeom>
              <a:blipFill>
                <a:blip r:embed="rId4"/>
                <a:stretch>
                  <a:fillRect l="-1075" t="-2800" b="-6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50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215-F131-4BA2-8686-E28536BA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078" y="365760"/>
            <a:ext cx="7924813" cy="118872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/>
              <a:t>Conclusions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5362-8495-429D-AC9B-10D90EDBD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1"/>
            <a:ext cx="9367204" cy="431596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Clinical trial data are expensive to obtain.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GB" sz="2400" dirty="0"/>
              <a:t>The duration of clinical trials has a major impact on the financial return to the developer of a new treatment.</a:t>
            </a:r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r>
              <a:rPr lang="en-GB" sz="2400" dirty="0"/>
              <a:t>Efficient trial designs can be created at all phases of development, given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GB" dirty="0"/>
              <a:t>A model for the trial in </a:t>
            </a:r>
            <a:r>
              <a:rPr lang="en-GB" dirty="0" smtClean="0"/>
              <a:t>question;</a:t>
            </a:r>
            <a:endParaRPr lang="en-GB" dirty="0"/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en-GB" dirty="0"/>
              <a:t>A </a:t>
            </a:r>
            <a:r>
              <a:rPr lang="en-GB" dirty="0" smtClean="0"/>
              <a:t>well-defined </a:t>
            </a:r>
            <a:r>
              <a:rPr lang="en-GB" dirty="0"/>
              <a:t>objective to optimise.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spcBef>
                <a:spcPts val="1800"/>
              </a:spcBef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2845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852</Words>
  <Application>Microsoft Office PowerPoint</Application>
  <PresentationFormat>Widescreen</PresentationFormat>
  <Paragraphs>120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Design and Analysis of Adaptive Clinical Trials: Addressing the Study Goals</vt:lpstr>
      <vt:lpstr>Decision making in clinical trials</vt:lpstr>
      <vt:lpstr>1.  Phase I: “First in Human” trials</vt:lpstr>
      <vt:lpstr>Design of a First in Human trial</vt:lpstr>
      <vt:lpstr>Optimising the design:  Bayes decision theory</vt:lpstr>
      <vt:lpstr>Optimising by Dynamic Programming</vt:lpstr>
      <vt:lpstr>A Phase I trial with safety and efficacy endpoints</vt:lpstr>
      <vt:lpstr>2.  Dose selection after Phase II</vt:lpstr>
      <vt:lpstr>Problem formulation</vt:lpstr>
      <vt:lpstr>Optimising Phase II and Phase III trials</vt:lpstr>
      <vt:lpstr>Portfolio management</vt:lpstr>
      <vt:lpstr>3. Phase III “enrichment” trials</vt:lpstr>
      <vt:lpstr>Optimising an enrichment design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Adaptive Clinical Trials: Addressing the Study Goals</dc:title>
  <dc:creator>Christopher Jennison</dc:creator>
  <cp:lastModifiedBy>Christopher Jennison</cp:lastModifiedBy>
  <cp:revision>36</cp:revision>
  <dcterms:created xsi:type="dcterms:W3CDTF">2020-09-02T16:39:42Z</dcterms:created>
  <dcterms:modified xsi:type="dcterms:W3CDTF">2020-09-12T14:46:11Z</dcterms:modified>
</cp:coreProperties>
</file>