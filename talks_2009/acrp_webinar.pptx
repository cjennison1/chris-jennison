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venir LT Std 35 Light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venir LT Std 35 Light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venir LT Std 35 Light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venir LT Std 35 Light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venir LT Std 35 Light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venir LT Std 35 Light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venir LT Std 35 Light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venir LT Std 35 Light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venir LT Std 35 Light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DB91"/>
    <a:srgbClr val="F3FBFF"/>
    <a:srgbClr val="E1F5FF"/>
    <a:srgbClr val="D1F0FF"/>
    <a:srgbClr val="292929"/>
    <a:srgbClr val="333333"/>
    <a:srgbClr val="0074B0"/>
    <a:srgbClr val="D1E7B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667" autoAdjust="0"/>
  </p:normalViewPr>
  <p:slideViewPr>
    <p:cSldViewPr>
      <p:cViewPr varScale="1">
        <p:scale>
          <a:sx n="80" d="100"/>
          <a:sy n="80" d="100"/>
        </p:scale>
        <p:origin x="-7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B3EAD331-01E0-4BFF-BBAE-07AC30BDA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745406-3B0A-4297-AEA0-989568CD0B3E}" type="slidenum">
              <a:rPr lang="en-US" smtClean="0">
                <a:cs typeface="Arial" charset="0"/>
              </a:rPr>
              <a:pPr/>
              <a:t>1</a:t>
            </a:fld>
            <a:endParaRPr lang="en-US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690ED9-5E86-4C51-91A0-1CEB06DDD6A8}" type="slidenum">
              <a:rPr lang="en-US" smtClean="0">
                <a:cs typeface="Arial" charset="0"/>
              </a:rPr>
              <a:pPr/>
              <a:t>2</a:t>
            </a:fld>
            <a:endParaRPr lang="en-US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1843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96DB280-E998-4EF6-9C80-B157C62CE572}" type="slidenum">
              <a:rPr lang="en-US" sz="1200">
                <a:latin typeface="Arial" charset="0"/>
              </a:rPr>
              <a:pPr algn="r"/>
              <a:t>3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2048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A6371E5-21A7-4A1B-B1DD-46C7C15CF577}" type="slidenum">
              <a:rPr lang="en-US" sz="1200">
                <a:latin typeface="Arial" charset="0"/>
              </a:rPr>
              <a:pPr algn="r"/>
              <a:t>4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2253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8E15561-B2FD-47C7-8390-DB88D0C959E2}" type="slidenum">
              <a:rPr lang="en-US" sz="1200">
                <a:latin typeface="Arial" charset="0"/>
              </a:rPr>
              <a:pPr algn="r"/>
              <a:t>5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2457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F257305-D043-45CA-A0B3-AE7F8D1DA572}" type="slidenum">
              <a:rPr lang="en-US" sz="1200">
                <a:latin typeface="Arial" charset="0"/>
              </a:rPr>
              <a:pPr algn="r"/>
              <a:t>6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2662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17494D0-7A9C-4B53-A540-44507C9F7599}" type="slidenum">
              <a:rPr lang="en-US" sz="1200">
                <a:latin typeface="Arial" charset="0"/>
              </a:rPr>
              <a:pPr algn="r"/>
              <a:t>7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2867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D660934-B0F0-4D1F-AB4E-3B6DA106DE88}" type="slidenum">
              <a:rPr lang="en-US" sz="1200">
                <a:latin typeface="Arial" charset="0"/>
              </a:rPr>
              <a:pPr algn="r"/>
              <a:t>8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3072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1E73253-33E3-4787-AF82-A3DD79E30FED}" type="slidenum">
              <a:rPr lang="en-US" sz="1200">
                <a:latin typeface="Arial" charset="0"/>
              </a:rPr>
              <a:pPr algn="r"/>
              <a:t>9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3277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0840AA3-F5C3-4157-864F-67F4EFFFFDE6}" type="slidenum">
              <a:rPr lang="en-US" sz="1200">
                <a:latin typeface="Arial" charset="0"/>
              </a:rPr>
              <a:pPr algn="r"/>
              <a:t>10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3481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31C487-779A-4ED6-BC3E-8887402F5F1D}" type="slidenum">
              <a:rPr lang="en-US" sz="1200">
                <a:latin typeface="Arial" charset="0"/>
              </a:rPr>
              <a:pPr algn="r"/>
              <a:t>11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3686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E770DC3-D739-4C73-8131-AB609DF49E3E}" type="slidenum">
              <a:rPr lang="en-US" sz="1200">
                <a:latin typeface="Arial" charset="0"/>
              </a:rPr>
              <a:pPr algn="r"/>
              <a:t>12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3891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DC5A150-1F04-435D-9B26-62BD34539069}" type="slidenum">
              <a:rPr lang="en-US" sz="1200">
                <a:latin typeface="Arial" charset="0"/>
              </a:rPr>
              <a:pPr algn="r"/>
              <a:t>13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4096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E4298EA-9BA6-4237-BE97-DCBD8F675EBD}" type="slidenum">
              <a:rPr lang="en-US" sz="1200">
                <a:latin typeface="Arial" charset="0"/>
              </a:rPr>
              <a:pPr algn="r"/>
              <a:t>14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430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4EA67BD-1212-43C5-B8C1-C31D7187868F}" type="slidenum">
              <a:rPr lang="en-US" sz="1200">
                <a:latin typeface="Arial" charset="0"/>
              </a:rPr>
              <a:pPr algn="r"/>
              <a:t>15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4505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B6A0851-85A6-4E4E-9FF9-F96668E70BF4}" type="slidenum">
              <a:rPr lang="en-US" sz="1200">
                <a:latin typeface="Arial" charset="0"/>
              </a:rPr>
              <a:pPr algn="r"/>
              <a:t>16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4710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0342BA0-0D5B-4501-B3E0-13AD1C756A7A}" type="slidenum">
              <a:rPr lang="en-US" sz="1200">
                <a:latin typeface="Arial" charset="0"/>
              </a:rPr>
              <a:pPr algn="r"/>
              <a:t>17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4915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DADAE0A-E80B-4C6C-9013-4147971819D2}" type="slidenum">
              <a:rPr lang="en-US" sz="1200">
                <a:latin typeface="Arial" charset="0"/>
              </a:rPr>
              <a:pPr algn="r"/>
              <a:t>18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5120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C02051F-5AEE-44B7-9621-4D5B91B9D197}" type="slidenum">
              <a:rPr lang="en-US" sz="1200">
                <a:latin typeface="Arial" charset="0"/>
              </a:rPr>
              <a:pPr algn="r"/>
              <a:t>19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5325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E06958C-6E94-478E-92D0-DEE07C3DF6C2}" type="slidenum">
              <a:rPr lang="en-US" sz="1200">
                <a:latin typeface="Arial" charset="0"/>
              </a:rPr>
              <a:pPr algn="r"/>
              <a:t>20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5529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DEC956C-40DD-415D-9D37-15730AC191A5}" type="slidenum">
              <a:rPr lang="en-US" sz="1200">
                <a:latin typeface="Arial" charset="0"/>
              </a:rPr>
              <a:pPr algn="r"/>
              <a:t>21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5734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7DAFCA4-31AB-49E5-A984-F88EABC0FDF0}" type="slidenum">
              <a:rPr lang="en-US" sz="1200">
                <a:latin typeface="Arial" charset="0"/>
              </a:rPr>
              <a:pPr algn="r"/>
              <a:t>22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5939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54B8174-F6B4-4F94-ABD0-8E0F15746D69}" type="slidenum">
              <a:rPr lang="en-US" sz="1200">
                <a:latin typeface="Arial" charset="0"/>
              </a:rPr>
              <a:pPr algn="r"/>
              <a:t>23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6144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FC4E98B-7CF0-4E95-832A-EB2192F28026}" type="slidenum">
              <a:rPr lang="en-US" sz="1200">
                <a:latin typeface="Arial" charset="0"/>
              </a:rPr>
              <a:pPr algn="r"/>
              <a:t>24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6349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C7AF775-100D-4493-995C-310D6AD254E6}" type="slidenum">
              <a:rPr lang="en-US" sz="1200">
                <a:latin typeface="Arial" charset="0"/>
              </a:rPr>
              <a:pPr algn="r"/>
              <a:t>25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6553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61EFCEE-07C0-45CC-ABE5-1C4943FDDFBC}" type="slidenum">
              <a:rPr lang="en-US" sz="1200">
                <a:latin typeface="Arial" charset="0"/>
              </a:rPr>
              <a:pPr algn="r"/>
              <a:t>26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6758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D3FA189-FFFB-4D4E-9969-8F92F740532F}" type="slidenum">
              <a:rPr lang="en-US" sz="1200">
                <a:latin typeface="Arial" charset="0"/>
              </a:rPr>
              <a:pPr algn="r"/>
              <a:t>27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6963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EFAF105-BB2E-4938-9721-9CCCFEEB0FF7}" type="slidenum">
              <a:rPr lang="en-US" sz="1200">
                <a:latin typeface="Arial" charset="0"/>
              </a:rPr>
              <a:pPr algn="r"/>
              <a:t>28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7168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7E837EC-B29F-4D35-B926-4AD169AFCCEE}" type="slidenum">
              <a:rPr lang="en-US" sz="1200">
                <a:latin typeface="Arial" charset="0"/>
              </a:rPr>
              <a:pPr algn="r"/>
              <a:t>29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7373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05D68F9-5727-4B6F-8119-BA0841DA2C1E}" type="slidenum">
              <a:rPr lang="en-US" sz="1200">
                <a:latin typeface="Arial" charset="0"/>
              </a:rPr>
              <a:pPr algn="r"/>
              <a:t>30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7577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C838CF0-6B1D-4816-8C00-68516D86F59E}" type="slidenum">
              <a:rPr lang="en-US" sz="1200">
                <a:latin typeface="Arial" charset="0"/>
              </a:rPr>
              <a:pPr algn="r"/>
              <a:t>31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7782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2E14337-E45E-45D2-AC3D-71AFC7A0DF0F}" type="slidenum">
              <a:rPr lang="en-US" sz="1200">
                <a:latin typeface="Arial" charset="0"/>
              </a:rPr>
              <a:pPr algn="r"/>
              <a:t>32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7987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5A6AB34-87AF-4859-B152-A5D0831B6C1B}" type="slidenum">
              <a:rPr lang="en-US" sz="1200">
                <a:latin typeface="Arial" charset="0"/>
              </a:rPr>
              <a:pPr algn="r"/>
              <a:t>33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8192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21E8449-BC04-49D8-9F47-0446106A1FA4}" type="slidenum">
              <a:rPr lang="en-US" sz="1200">
                <a:latin typeface="Arial" charset="0"/>
              </a:rPr>
              <a:pPr algn="r"/>
              <a:t>34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8397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F3394AC-28D1-4C0C-9903-12C6D6D07A94}" type="slidenum">
              <a:rPr lang="en-US" sz="1200">
                <a:latin typeface="Arial" charset="0"/>
              </a:rPr>
              <a:pPr algn="r"/>
              <a:t>35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8601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23CFE52-9CD3-4267-A193-7FE96A52C7E8}" type="slidenum">
              <a:rPr lang="en-US" sz="1200">
                <a:latin typeface="Arial" charset="0"/>
              </a:rPr>
              <a:pPr algn="r"/>
              <a:t>36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8806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78CE3D0-44A1-4F92-9044-1D1F9EEC78AB}" type="slidenum">
              <a:rPr lang="en-US" sz="1200">
                <a:latin typeface="Arial" charset="0"/>
              </a:rPr>
              <a:pPr algn="r"/>
              <a:t>37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9011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428AC92-8633-442C-8CC6-CD9BF27B12D1}" type="slidenum">
              <a:rPr lang="en-US" sz="1200">
                <a:latin typeface="Arial" charset="0"/>
              </a:rPr>
              <a:pPr algn="r"/>
              <a:t>38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9216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1CBC97F-9946-44E3-B03A-A8AE901221B2}" type="slidenum">
              <a:rPr lang="en-US" sz="1200">
                <a:latin typeface="Arial" charset="0"/>
              </a:rPr>
              <a:pPr algn="r"/>
              <a:t>39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942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FF500E7-1FF5-4369-8F35-03CB611C6AA3}" type="slidenum">
              <a:rPr lang="en-US" sz="1200">
                <a:latin typeface="Arial" charset="0"/>
              </a:rPr>
              <a:pPr algn="r"/>
              <a:t>40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9625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3398827-F1CD-48C1-984E-A84BF881B134}" type="slidenum">
              <a:rPr lang="en-US" sz="1200">
                <a:latin typeface="Arial" charset="0"/>
              </a:rPr>
              <a:pPr algn="r"/>
              <a:t>41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9830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139DE6C-CE18-4C8F-A744-D5678997C307}" type="slidenum">
              <a:rPr lang="en-US" sz="1200">
                <a:latin typeface="Arial" charset="0"/>
              </a:rPr>
              <a:pPr algn="r"/>
              <a:t>42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10035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0A78AD4-7C5F-413C-931D-4B7A9682B289}" type="slidenum">
              <a:rPr lang="en-US" sz="1200">
                <a:latin typeface="Arial" charset="0"/>
              </a:rPr>
              <a:pPr algn="r"/>
              <a:t>43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10240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4A10073-BBC5-453E-BBB3-9B7FDA7FD572}" type="slidenum">
              <a:rPr lang="en-US" sz="1200">
                <a:latin typeface="Arial" charset="0"/>
              </a:rPr>
              <a:pPr algn="r"/>
              <a:t>44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10445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88BF46C-CF8D-46A1-89F6-FEA11D5C6BA8}" type="slidenum">
              <a:rPr lang="en-US" sz="1200">
                <a:latin typeface="Arial" charset="0"/>
              </a:rPr>
              <a:pPr algn="r"/>
              <a:t>45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10649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9CE97FA-2D62-45A2-AEB1-AA124562F56C}" type="slidenum">
              <a:rPr lang="en-US" sz="1200">
                <a:latin typeface="Arial" charset="0"/>
              </a:rPr>
              <a:pPr algn="r"/>
              <a:t>46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10854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C24C6CF-32B0-492D-A2A8-3F99BA74FC98}" type="slidenum">
              <a:rPr lang="en-US" sz="1200">
                <a:latin typeface="Arial" charset="0"/>
              </a:rPr>
              <a:pPr algn="r"/>
              <a:t>47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11059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3814AC5-0795-42F4-B90D-C5134183E09E}" type="slidenum">
              <a:rPr lang="en-US" sz="1200">
                <a:latin typeface="Arial" charset="0"/>
              </a:rPr>
              <a:pPr algn="r"/>
              <a:t>48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F01518-E930-4E43-B775-1BE9E5B73F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75CC0-B5B9-445D-B59F-7EDE8D265C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2C7AF-46B1-4B3C-BE3F-FF845B11E1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F017C-FFB6-48D2-9BEF-575F309C79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E9F3E-A64B-47ED-9946-DBDE5E98D5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95F38-28A4-4D73-9CE3-9094AAFD71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18FE99-4DA9-4D4E-86B9-1C1E1C477F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B11309-7885-49D2-A5AE-8164AC7A9A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2F79E-EAF9-4A67-A263-8F62760E23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D4F3B-C0B9-49CC-8F1D-6B5FF74675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4"/>
          <p:cNvSpPr>
            <a:spLocks noChangeArrowheads="1"/>
          </p:cNvSpPr>
          <p:nvPr userDrawn="1"/>
        </p:nvSpPr>
        <p:spPr bwMode="auto">
          <a:xfrm>
            <a:off x="0" y="1066800"/>
            <a:ext cx="9144000" cy="5410200"/>
          </a:xfrm>
          <a:prstGeom prst="rect">
            <a:avLst/>
          </a:prstGeom>
          <a:gradFill rotWithShape="1">
            <a:gsLst>
              <a:gs pos="0">
                <a:srgbClr val="E1F5FF">
                  <a:alpha val="75999"/>
                </a:srgbClr>
              </a:gs>
              <a:gs pos="100000">
                <a:srgbClr val="E1F5FF">
                  <a:gamma/>
                  <a:tint val="0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venir LT Std 35 Light" pitchFamily="34" charset="0"/>
              <a:cs typeface="+mn-cs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010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0074B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venir LT Std 35 Light" pitchFamily="34" charset="0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6248400"/>
            <a:ext cx="9144000" cy="76200"/>
          </a:xfrm>
          <a:prstGeom prst="rect">
            <a:avLst/>
          </a:prstGeom>
          <a:solidFill>
            <a:srgbClr val="9ECC78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venir LT Std 35 Light" pitchFamily="34" charset="0"/>
              <a:cs typeface="+mn-cs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63A05429-F09C-4369-84B9-139B693C5C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3" descr="ACRP"/>
          <p:cNvPicPr>
            <a:picLocks noChangeAspect="1" noChangeArrowheads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7010400" y="76200"/>
            <a:ext cx="21336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7" r:id="rId2"/>
    <p:sldLayoutId id="2147483656" r:id="rId3"/>
    <p:sldLayoutId id="2147483655" r:id="rId4"/>
    <p:sldLayoutId id="2147483654" r:id="rId5"/>
    <p:sldLayoutId id="2147483653" r:id="rId6"/>
    <p:sldLayoutId id="2147483652" r:id="rId7"/>
    <p:sldLayoutId id="2147483651" r:id="rId8"/>
    <p:sldLayoutId id="2147483650" r:id="rId9"/>
    <p:sldLayoutId id="2147483649" r:id="rId10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200">
          <a:solidFill>
            <a:srgbClr val="333333"/>
          </a:solidFill>
          <a:latin typeface="Arial Black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200">
          <a:solidFill>
            <a:srgbClr val="333333"/>
          </a:solidFill>
          <a:latin typeface="Arial Black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200">
          <a:solidFill>
            <a:srgbClr val="333333"/>
          </a:solidFill>
          <a:latin typeface="Arial Black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200">
          <a:solidFill>
            <a:srgbClr val="333333"/>
          </a:solidFill>
          <a:latin typeface="Arial Black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200">
          <a:solidFill>
            <a:srgbClr val="333333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333333"/>
          </a:solidFill>
          <a:latin typeface="Avenir LT Std 55 Roman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333333"/>
          </a:solidFill>
          <a:latin typeface="Avenir LT Std 55 Roman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333333"/>
          </a:solidFill>
          <a:latin typeface="Avenir LT Std 55 Roman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333333"/>
          </a:solidFill>
          <a:latin typeface="Avenir LT Std 55 Roman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333333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333333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333333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333333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333333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33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33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33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33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457200" y="6400800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1200">
                <a:solidFill>
                  <a:schemeClr val="bg1"/>
                </a:solidFill>
                <a:latin typeface="+mj-lt"/>
                <a:cs typeface="+mn-cs"/>
              </a:rPr>
              <a:t>©copyright ACRP 2008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F2C59F-2436-4A63-A4EB-F1CD8AB52CA8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447800" y="2286000"/>
            <a:ext cx="6248400" cy="1219200"/>
          </a:xfrm>
        </p:spPr>
        <p:txBody>
          <a:bodyPr/>
          <a:lstStyle/>
          <a:p>
            <a:pPr eaLnBrk="1" hangingPunct="1"/>
            <a:r>
              <a:rPr lang="en-US" sz="1800" smtClean="0"/>
              <a:t>Association of Clinical </a:t>
            </a:r>
            <a:br>
              <a:rPr lang="en-US" sz="1800" smtClean="0"/>
            </a:br>
            <a:r>
              <a:rPr lang="en-US" sz="1800" smtClean="0"/>
              <a:t>Research Professionals</a:t>
            </a:r>
            <a:br>
              <a:rPr lang="en-US" sz="1800" smtClean="0"/>
            </a:br>
            <a:r>
              <a:rPr lang="en-US" sz="1000" smtClean="0"/>
              <a:t/>
            </a:r>
            <a:br>
              <a:rPr lang="en-US" sz="1000" smtClean="0"/>
            </a:br>
            <a:r>
              <a:rPr lang="en-US" sz="1500" smtClean="0"/>
              <a:t>Academy of Pharmaceutical </a:t>
            </a:r>
            <a:br>
              <a:rPr lang="en-US" sz="1500" smtClean="0"/>
            </a:br>
            <a:r>
              <a:rPr lang="en-US" sz="1500" smtClean="0"/>
              <a:t>Physicians and Investigators</a:t>
            </a: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905000" y="4060825"/>
            <a:ext cx="5334000" cy="2046288"/>
          </a:xfrm>
          <a:prstGeom prst="rect">
            <a:avLst/>
          </a:prstGeom>
          <a:solidFill>
            <a:srgbClr val="0074B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317" name="Rectangle 4"/>
          <p:cNvSpPr>
            <a:spLocks noGrp="1" noChangeArrowheads="1"/>
          </p:cNvSpPr>
          <p:nvPr>
            <p:ph type="subTitle" idx="4294967295"/>
          </p:nvPr>
        </p:nvSpPr>
        <p:spPr>
          <a:xfrm>
            <a:off x="4114800" y="4648200"/>
            <a:ext cx="3048000" cy="1752600"/>
          </a:xfrm>
        </p:spPr>
        <p:txBody>
          <a:bodyPr/>
          <a:lstStyle/>
          <a:p>
            <a:pPr marL="0" indent="0" algn="r" eaLnBrk="1" hangingPunct="1">
              <a:spcBef>
                <a:spcPct val="10000"/>
              </a:spcBef>
              <a:buFontTx/>
              <a:buNone/>
            </a:pPr>
            <a:endParaRPr lang="en-US" sz="1400" smtClean="0">
              <a:solidFill>
                <a:schemeClr val="bg1"/>
              </a:solidFill>
              <a:latin typeface="Avenir LT Std 55 Roman"/>
            </a:endParaRPr>
          </a:p>
          <a:p>
            <a:pPr marL="0" indent="0" algn="r" eaLnBrk="1" hangingPunct="1">
              <a:spcBef>
                <a:spcPct val="10000"/>
              </a:spcBef>
              <a:buFontTx/>
              <a:buNone/>
            </a:pPr>
            <a:r>
              <a:rPr lang="en-US" sz="1400" b="1" smtClean="0">
                <a:solidFill>
                  <a:schemeClr val="bg1"/>
                </a:solidFill>
                <a:latin typeface="Avenir LT Std 55 Roman"/>
              </a:rPr>
              <a:t>European Office</a:t>
            </a:r>
          </a:p>
          <a:p>
            <a:pPr marL="0" indent="0" algn="r" eaLnBrk="1" hangingPunct="1">
              <a:spcBef>
                <a:spcPct val="10000"/>
              </a:spcBef>
              <a:buFontTx/>
              <a:buNone/>
            </a:pPr>
            <a:r>
              <a:rPr lang="en-US" sz="1400" smtClean="0">
                <a:solidFill>
                  <a:schemeClr val="bg1"/>
                </a:solidFill>
                <a:latin typeface="Avenir LT Std 55 Roman"/>
              </a:rPr>
              <a:t>Goswell House</a:t>
            </a:r>
          </a:p>
          <a:p>
            <a:pPr marL="0" indent="0" algn="r" eaLnBrk="1" hangingPunct="1">
              <a:spcBef>
                <a:spcPct val="10000"/>
              </a:spcBef>
              <a:buFontTx/>
              <a:buNone/>
            </a:pPr>
            <a:r>
              <a:rPr lang="en-US" sz="1400" smtClean="0">
                <a:solidFill>
                  <a:schemeClr val="bg1"/>
                </a:solidFill>
                <a:latin typeface="Avenir LT Std 55 Roman"/>
              </a:rPr>
              <a:t>134 Peascod Street</a:t>
            </a:r>
          </a:p>
          <a:p>
            <a:pPr marL="0" indent="0" algn="r" eaLnBrk="1" hangingPunct="1">
              <a:spcBef>
                <a:spcPct val="10000"/>
              </a:spcBef>
              <a:buFontTx/>
              <a:buNone/>
            </a:pPr>
            <a:r>
              <a:rPr lang="en-US" sz="1400" smtClean="0">
                <a:solidFill>
                  <a:schemeClr val="bg1"/>
                </a:solidFill>
                <a:latin typeface="Avenir LT Std 55 Roman"/>
              </a:rPr>
              <a:t>Windsor, UK</a:t>
            </a:r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1981200" y="4648200"/>
            <a:ext cx="3962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10000"/>
              </a:spcBef>
            </a:pPr>
            <a:endParaRPr lang="en-US" sz="1400">
              <a:solidFill>
                <a:schemeClr val="bg1"/>
              </a:solidFill>
              <a:latin typeface="Avenir LT Std 55 Roman"/>
            </a:endParaRPr>
          </a:p>
          <a:p>
            <a:pPr>
              <a:spcBef>
                <a:spcPct val="10000"/>
              </a:spcBef>
            </a:pPr>
            <a:r>
              <a:rPr lang="en-US" sz="1400" b="1">
                <a:solidFill>
                  <a:schemeClr val="bg1"/>
                </a:solidFill>
                <a:latin typeface="Avenir LT Std 55 Roman"/>
              </a:rPr>
              <a:t>India Office</a:t>
            </a:r>
            <a:r>
              <a:rPr lang="en-US" sz="1400">
                <a:solidFill>
                  <a:schemeClr val="bg1"/>
                </a:solidFill>
                <a:latin typeface="Avenir LT Std 55 Roman"/>
              </a:rPr>
              <a:t> </a:t>
            </a:r>
          </a:p>
          <a:p>
            <a:pPr>
              <a:spcBef>
                <a:spcPct val="10000"/>
              </a:spcBef>
            </a:pPr>
            <a:r>
              <a:rPr lang="en-US" sz="1400">
                <a:solidFill>
                  <a:schemeClr val="bg1"/>
                </a:solidFill>
                <a:latin typeface="Avenir LT Std 55 Roman"/>
              </a:rPr>
              <a:t>Bilcare Research Academy</a:t>
            </a:r>
            <a:br>
              <a:rPr lang="en-US" sz="1400">
                <a:solidFill>
                  <a:schemeClr val="bg1"/>
                </a:solidFill>
                <a:latin typeface="Avenir LT Std 55 Roman"/>
              </a:rPr>
            </a:br>
            <a:r>
              <a:rPr lang="en-US" sz="1400">
                <a:solidFill>
                  <a:schemeClr val="bg1"/>
                </a:solidFill>
                <a:latin typeface="Avenir LT Std 55 Roman"/>
              </a:rPr>
              <a:t>1002, Sai Capital,</a:t>
            </a:r>
            <a:br>
              <a:rPr lang="en-US" sz="1400">
                <a:solidFill>
                  <a:schemeClr val="bg1"/>
                </a:solidFill>
                <a:latin typeface="Avenir LT Std 55 Roman"/>
              </a:rPr>
            </a:br>
            <a:r>
              <a:rPr lang="en-US" sz="1400">
                <a:solidFill>
                  <a:schemeClr val="bg1"/>
                </a:solidFill>
                <a:latin typeface="Avenir LT Std 55 Roman"/>
              </a:rPr>
              <a:t>Senapati Bapat Road,</a:t>
            </a:r>
            <a:br>
              <a:rPr lang="en-US" sz="1400">
                <a:solidFill>
                  <a:schemeClr val="bg1"/>
                </a:solidFill>
                <a:latin typeface="Avenir LT Std 55 Roman"/>
              </a:rPr>
            </a:br>
            <a:r>
              <a:rPr lang="en-US" sz="1400">
                <a:solidFill>
                  <a:schemeClr val="bg1"/>
                </a:solidFill>
                <a:latin typeface="Avenir LT Std 55 Roman"/>
              </a:rPr>
              <a:t>Pune-411 016, India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2514600" y="3886200"/>
            <a:ext cx="3962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10000"/>
              </a:spcBef>
            </a:pPr>
            <a:endParaRPr lang="en-US" sz="1400">
              <a:solidFill>
                <a:schemeClr val="bg1"/>
              </a:solidFill>
              <a:latin typeface="Avenir LT Std 55 Roman"/>
            </a:endParaRPr>
          </a:p>
          <a:p>
            <a:pPr algn="ctr">
              <a:spcBef>
                <a:spcPct val="10000"/>
              </a:spcBef>
            </a:pPr>
            <a:r>
              <a:rPr lang="en-US" sz="1600" b="1">
                <a:solidFill>
                  <a:schemeClr val="bg1"/>
                </a:solidFill>
                <a:latin typeface="Avenir LT Std 55 Roman"/>
              </a:rPr>
              <a:t>Global Headquarters</a:t>
            </a:r>
            <a:r>
              <a:rPr lang="en-US" sz="1400">
                <a:solidFill>
                  <a:schemeClr val="bg1"/>
                </a:solidFill>
                <a:latin typeface="Avenir LT Std 55 Roman"/>
              </a:rPr>
              <a:t> </a:t>
            </a:r>
          </a:p>
          <a:p>
            <a:pPr algn="ctr">
              <a:spcBef>
                <a:spcPct val="10000"/>
              </a:spcBef>
            </a:pPr>
            <a:r>
              <a:rPr lang="en-US" sz="1400">
                <a:solidFill>
                  <a:schemeClr val="bg1"/>
                </a:solidFill>
                <a:latin typeface="Avenir LT Std 55 Roman"/>
              </a:rPr>
              <a:t>500 Montgomery St</a:t>
            </a:r>
          </a:p>
          <a:p>
            <a:pPr algn="ctr">
              <a:spcBef>
                <a:spcPct val="10000"/>
              </a:spcBef>
            </a:pPr>
            <a:r>
              <a:rPr lang="en-US" sz="1400">
                <a:solidFill>
                  <a:schemeClr val="bg1"/>
                </a:solidFill>
                <a:latin typeface="Avenir LT Std 55 Roman"/>
              </a:rPr>
              <a:t>Alexandria, VA 22314 </a:t>
            </a:r>
          </a:p>
          <a:p>
            <a:pPr algn="ctr">
              <a:spcBef>
                <a:spcPct val="10000"/>
              </a:spcBef>
            </a:pPr>
            <a:r>
              <a:rPr lang="en-US" sz="1400">
                <a:solidFill>
                  <a:schemeClr val="bg1"/>
                </a:solidFill>
                <a:latin typeface="Avenir LT Std 55 Roman"/>
              </a:rPr>
              <a:t>USA</a:t>
            </a:r>
            <a:r>
              <a:rPr lang="en-US" sz="1200">
                <a:solidFill>
                  <a:schemeClr val="bg1"/>
                </a:solidFill>
                <a:latin typeface="Avenir LT Std 55 Roman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Date Placeholder 3"/>
          <p:cNvSpPr>
            <a:spLocks noGrp="1"/>
          </p:cNvSpPr>
          <p:nvPr>
            <p:ph type="dt" sz="quarter" idx="4294967295"/>
          </p:nvPr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1F6171-C95A-4301-905D-2B32182687E9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sz="2000" smtClean="0"/>
              <a:t>Adaptive Clinical Trials:  What do they Offer?</a:t>
            </a:r>
          </a:p>
        </p:txBody>
      </p:sp>
      <p:pic>
        <p:nvPicPr>
          <p:cNvPr id="15367" name="Picture 7" descr="acrp_nt_crop0001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25AF6A3A-DC4C-4246-88BA-F58D48AC1591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3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b="1" smtClean="0"/>
              <a:t>Objectives for the training</a:t>
            </a:r>
          </a:p>
        </p:txBody>
      </p:sp>
      <p:pic>
        <p:nvPicPr>
          <p:cNvPr id="17415" name="Picture 7" descr="acrp_nt_crop0002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A337CC7E-699B-4FE3-98B7-615C4A64F18B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4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b="1" smtClean="0"/>
              <a:t>The role of adaptive methods</a:t>
            </a:r>
          </a:p>
        </p:txBody>
      </p:sp>
      <p:pic>
        <p:nvPicPr>
          <p:cNvPr id="19463" name="Picture 7" descr="acrp_nt_crop0003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C5A9ED14-E96F-4207-8332-44C1263F224F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5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b="1" smtClean="0"/>
              <a:t>Critical appraisal of adaptive designs</a:t>
            </a:r>
          </a:p>
        </p:txBody>
      </p:sp>
      <p:pic>
        <p:nvPicPr>
          <p:cNvPr id="21511" name="Picture 7" descr="acrp_nt_crop0004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D5884608-CF1E-418E-BF5F-960494EB6D88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6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19100" indent="-419100">
              <a:buFontTx/>
              <a:buAutoNum type="arabicPeriod"/>
            </a:pPr>
            <a:r>
              <a:rPr lang="en-GB" sz="2000" b="1" smtClean="0"/>
              <a:t>Sample size modification for a</a:t>
            </a:r>
            <a:br>
              <a:rPr lang="en-GB" sz="2000" b="1" smtClean="0"/>
            </a:br>
            <a:r>
              <a:rPr lang="en-GB" sz="2000" b="1" smtClean="0"/>
              <a:t>nuisance parameter</a:t>
            </a:r>
          </a:p>
        </p:txBody>
      </p:sp>
      <p:pic>
        <p:nvPicPr>
          <p:cNvPr id="23559" name="Picture 7" descr="acrp_nt_crop0005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CD906848-4F88-49CA-A26E-4C5E024DA4E3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7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Internal pilots:  Wittes &amp; Brittain</a:t>
            </a:r>
          </a:p>
        </p:txBody>
      </p:sp>
      <p:pic>
        <p:nvPicPr>
          <p:cNvPr id="25607" name="Picture 7" descr="acrp_nt_crop0006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FD249CD0-633E-4DB5-9A27-5A2CC7A916EB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8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2765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Internal pilots:  Properties</a:t>
            </a:r>
          </a:p>
        </p:txBody>
      </p:sp>
      <p:pic>
        <p:nvPicPr>
          <p:cNvPr id="27655" name="Picture 7" descr="acrp_nt_crop0007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795FB709-A63D-4677-98EB-4698F41B489F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9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296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Internal pilots:  Properties</a:t>
            </a:r>
          </a:p>
        </p:txBody>
      </p:sp>
      <p:pic>
        <p:nvPicPr>
          <p:cNvPr id="29703" name="Picture 7" descr="acrp_nt_crop0008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4AFB115B-362A-4121-BABA-50FADFB1EB24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10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317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for a</a:t>
            </a:r>
            <a:br>
              <a:rPr lang="en-GB" sz="2000" b="1" smtClean="0"/>
            </a:br>
            <a:r>
              <a:rPr lang="en-GB" sz="2000" b="1" smtClean="0"/>
              <a:t>nuisance parameter</a:t>
            </a:r>
          </a:p>
        </p:txBody>
      </p:sp>
      <p:pic>
        <p:nvPicPr>
          <p:cNvPr id="31751" name="Picture 7" descr="acrp_nt_crop0009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5BF2E395-1F6A-4E18-8557-8C63149966D3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11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3379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Combination tests:  The inverse</a:t>
            </a:r>
            <a:br>
              <a:rPr lang="en-GB" sz="2000" b="1" smtClean="0"/>
            </a:br>
            <a:r>
              <a:rPr lang="en-GB" sz="2000" b="1" smtClean="0"/>
              <a:t>chi squared</a:t>
            </a:r>
            <a:r>
              <a:rPr lang="en-GB" sz="2000" smtClean="0"/>
              <a:t> </a:t>
            </a:r>
            <a:r>
              <a:rPr lang="en-GB" sz="2000" b="1" smtClean="0"/>
              <a:t>test</a:t>
            </a:r>
          </a:p>
        </p:txBody>
      </p:sp>
      <p:pic>
        <p:nvPicPr>
          <p:cNvPr id="33799" name="Picture 7" descr="acrp_nt_crop0010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30A2018E-39D8-42EC-91E4-E43544615C2A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12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35843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Combination tests:  The inverse</a:t>
            </a:r>
            <a:br>
              <a:rPr lang="en-GB" sz="2000" b="1" smtClean="0"/>
            </a:br>
            <a:r>
              <a:rPr lang="en-GB" sz="2000" b="1" smtClean="0"/>
              <a:t>normal test</a:t>
            </a:r>
          </a:p>
        </p:txBody>
      </p:sp>
      <p:pic>
        <p:nvPicPr>
          <p:cNvPr id="35846" name="Picture 6" descr="acrp_nt_crop0011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1849F513-230B-4F29-8E67-315435EAB31F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13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37891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re-estimation using a</a:t>
            </a:r>
            <a:br>
              <a:rPr lang="en-GB" sz="2000" b="1" smtClean="0"/>
            </a:br>
            <a:r>
              <a:rPr lang="en-GB" sz="2000" b="1" smtClean="0"/>
              <a:t>combination test</a:t>
            </a:r>
          </a:p>
        </p:txBody>
      </p:sp>
      <p:pic>
        <p:nvPicPr>
          <p:cNvPr id="37894" name="Picture 6" descr="acrp_nt_crop0012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471FED26-96A5-4441-9BA9-4E058D0D5F80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14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3993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re-estimation using a</a:t>
            </a:r>
            <a:br>
              <a:rPr lang="en-GB" sz="2000" b="1" smtClean="0"/>
            </a:br>
            <a:r>
              <a:rPr lang="en-GB" sz="2000" b="1" smtClean="0"/>
              <a:t>combination test</a:t>
            </a:r>
          </a:p>
        </p:txBody>
      </p:sp>
      <p:pic>
        <p:nvPicPr>
          <p:cNvPr id="39942" name="Picture 6" descr="acrp_nt_crop0013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1BE6F381-9225-41D9-A897-C002024028C3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15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for a</a:t>
            </a:r>
            <a:br>
              <a:rPr lang="en-GB" sz="2000" b="1" smtClean="0"/>
            </a:br>
            <a:r>
              <a:rPr lang="en-GB" sz="2000" b="1" smtClean="0"/>
              <a:t>nuisance parameter</a:t>
            </a:r>
          </a:p>
        </p:txBody>
      </p:sp>
      <p:pic>
        <p:nvPicPr>
          <p:cNvPr id="41990" name="Picture 6" descr="acrp_nt_crop0014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EEEA2468-FF8B-4C69-AAC0-FF66341E4BBF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16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44035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Group sequential tests</a:t>
            </a:r>
          </a:p>
        </p:txBody>
      </p:sp>
      <p:pic>
        <p:nvPicPr>
          <p:cNvPr id="44038" name="Picture 6" descr="acrp_nt_crop0015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25B6B48C-0562-43EC-840E-BF3D47D0F900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17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46083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Error spending group sequential tests</a:t>
            </a:r>
          </a:p>
        </p:txBody>
      </p:sp>
      <p:pic>
        <p:nvPicPr>
          <p:cNvPr id="46086" name="Picture 6" descr="acrp_nt_crop0016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60A396E1-01A6-43CA-80BA-CCCCACCBDF57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18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48131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for a</a:t>
            </a:r>
            <a:br>
              <a:rPr lang="en-GB" sz="2000" b="1" smtClean="0"/>
            </a:br>
            <a:r>
              <a:rPr lang="en-GB" sz="2000" b="1" smtClean="0"/>
              <a:t>nuisance parameter</a:t>
            </a:r>
          </a:p>
        </p:txBody>
      </p:sp>
      <p:pic>
        <p:nvPicPr>
          <p:cNvPr id="48134" name="Picture 6" descr="acrp_nt_crop0017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2BF29E4A-BCCD-48ED-A44C-7DC980B25094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19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5017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Information monitoring</a:t>
            </a:r>
          </a:p>
        </p:txBody>
      </p:sp>
      <p:pic>
        <p:nvPicPr>
          <p:cNvPr id="50182" name="Picture 6" descr="acrp_nt_crop0018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DDB5A68F-7150-4731-BBF0-A8BCD02E673E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20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5222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for a</a:t>
            </a:r>
            <a:br>
              <a:rPr lang="en-GB" sz="2000" b="1" smtClean="0"/>
            </a:br>
            <a:r>
              <a:rPr lang="en-GB" sz="2000" b="1" smtClean="0"/>
              <a:t>nuisance parameter</a:t>
            </a:r>
          </a:p>
        </p:txBody>
      </p:sp>
      <p:pic>
        <p:nvPicPr>
          <p:cNvPr id="52230" name="Picture 6" descr="acrp_nt_crop0019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5A2F4BBB-316B-4FA1-9EF2-E2FD8DAC70DF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21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54275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2.  Sample size modification to increase power</a:t>
            </a:r>
          </a:p>
        </p:txBody>
      </p:sp>
      <p:pic>
        <p:nvPicPr>
          <p:cNvPr id="54278" name="Picture 6" descr="acrp_nt_crop0020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D4E601DD-4B9D-47FC-A3DA-46370D2A56AE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22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56323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to increase power</a:t>
            </a:r>
          </a:p>
        </p:txBody>
      </p:sp>
      <p:pic>
        <p:nvPicPr>
          <p:cNvPr id="56326" name="Picture 6" descr="acrp_nt_crop0021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EB1103D-F2E2-47C7-8C87-9750977812CD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23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58371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to increase power</a:t>
            </a:r>
          </a:p>
        </p:txBody>
      </p:sp>
      <p:pic>
        <p:nvPicPr>
          <p:cNvPr id="58374" name="Picture 6" descr="acrp_nt_crop0022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8590B208-2188-4097-BE98-F7ED63C94188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24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6041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to increase power</a:t>
            </a:r>
          </a:p>
        </p:txBody>
      </p:sp>
      <p:pic>
        <p:nvPicPr>
          <p:cNvPr id="60422" name="Picture 6" descr="acrp_nt_crop0023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DBE73A57-66F8-45CF-8457-2F7E0233E8D9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25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6246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to increase power</a:t>
            </a:r>
          </a:p>
        </p:txBody>
      </p:sp>
      <p:pic>
        <p:nvPicPr>
          <p:cNvPr id="62470" name="Picture 6" descr="acrp_nt_crop0024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5E931E22-AEA2-4B3E-AEB2-119F99D7BD87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26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64515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to increase power</a:t>
            </a:r>
          </a:p>
        </p:txBody>
      </p:sp>
      <p:pic>
        <p:nvPicPr>
          <p:cNvPr id="64518" name="Picture 6" descr="acrp_nt_crop0025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407C08C9-75C4-4A90-ABCE-A93C525A2E3C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27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66563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to increase power</a:t>
            </a:r>
          </a:p>
        </p:txBody>
      </p:sp>
      <p:pic>
        <p:nvPicPr>
          <p:cNvPr id="66566" name="Picture 6" descr="acrp_nt_crop0026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FCD076B4-ABEC-4366-AF4E-C1565DAF9D1F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28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68611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to increase power</a:t>
            </a:r>
          </a:p>
        </p:txBody>
      </p:sp>
      <p:pic>
        <p:nvPicPr>
          <p:cNvPr id="68614" name="Picture 6" descr="acrp_nt_crop0027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B883FA5D-0F46-4DD3-9C10-B9B52DA7EFF8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29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7065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to increase power</a:t>
            </a:r>
          </a:p>
        </p:txBody>
      </p:sp>
      <p:pic>
        <p:nvPicPr>
          <p:cNvPr id="70662" name="Picture 6" descr="acrp_nt_crop0028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F00067D6-C1F8-4CAC-A3EC-DEC827C31978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30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7270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to increase power</a:t>
            </a:r>
          </a:p>
        </p:txBody>
      </p:sp>
      <p:pic>
        <p:nvPicPr>
          <p:cNvPr id="72710" name="Picture 6" descr="acrp_nt_crop0029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723BEEFA-1796-42C6-9480-A3E5D67758F0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31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74755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Sample size modification to increase power</a:t>
            </a:r>
          </a:p>
        </p:txBody>
      </p:sp>
      <p:pic>
        <p:nvPicPr>
          <p:cNvPr id="74758" name="Picture 6" descr="acrp_nt_crop0030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57F095DB-2A4E-41A5-A62C-EE2DDC6DC232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32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76803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3.  Switching to a patient sub-population</a:t>
            </a:r>
          </a:p>
        </p:txBody>
      </p:sp>
      <p:pic>
        <p:nvPicPr>
          <p:cNvPr id="76806" name="Picture 6" descr="acrp_nt_crop0031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E1265DDB-704F-4FE8-A0B7-C9D113B78361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33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78851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Enrichment:  Example</a:t>
            </a:r>
          </a:p>
        </p:txBody>
      </p:sp>
      <p:pic>
        <p:nvPicPr>
          <p:cNvPr id="78854" name="Picture 6" descr="acrp_nt_crop0032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DE57263F-21B4-48B3-B794-70B8A038FEA2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34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8089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Multiple testing procedures</a:t>
            </a:r>
          </a:p>
        </p:txBody>
      </p:sp>
      <p:pic>
        <p:nvPicPr>
          <p:cNvPr id="80902" name="Picture 6" descr="acrp_nt_crop0033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A44B0079-8FA2-4DA9-BA62-62B2058F1B88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35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8294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Closed testing procedures</a:t>
            </a:r>
            <a:br>
              <a:rPr lang="en-GB" sz="2000" b="1" smtClean="0"/>
            </a:br>
            <a:r>
              <a:rPr lang="en-GB" sz="2000" b="1" smtClean="0"/>
              <a:t>(Marcus et al, </a:t>
            </a:r>
            <a:r>
              <a:rPr lang="en-GB" sz="2000" b="1" i="1" smtClean="0"/>
              <a:t>Biometrika</a:t>
            </a:r>
            <a:r>
              <a:rPr lang="en-GB" sz="2000" b="1" smtClean="0"/>
              <a:t>, 1976)</a:t>
            </a:r>
          </a:p>
        </p:txBody>
      </p:sp>
      <p:pic>
        <p:nvPicPr>
          <p:cNvPr id="82950" name="Picture 6" descr="acrp_nt_crop0034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B8CCEB33-5FD6-43BB-8407-7E45F3587068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36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84995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Enrichment:  Example</a:t>
            </a:r>
          </a:p>
        </p:txBody>
      </p:sp>
      <p:pic>
        <p:nvPicPr>
          <p:cNvPr id="84998" name="Picture 6" descr="acrp_nt_crop0035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457D10BF-419E-4F4E-9960-64972364EE2A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37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87043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Enrichment:  Example</a:t>
            </a:r>
          </a:p>
        </p:txBody>
      </p:sp>
      <p:pic>
        <p:nvPicPr>
          <p:cNvPr id="87046" name="Picture 6" descr="acrp_nt_crop0036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DC648108-7876-445F-8EF9-800D8A9A4671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38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89091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Enrichment:  Example</a:t>
            </a:r>
          </a:p>
        </p:txBody>
      </p:sp>
      <p:pic>
        <p:nvPicPr>
          <p:cNvPr id="89094" name="Picture 6" descr="acrp_nt_crop0037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340BE8E7-6807-4DA4-A99C-748A6F081CC7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39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9113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Enrichment:  A closed testing procedure</a:t>
            </a:r>
          </a:p>
        </p:txBody>
      </p:sp>
      <p:pic>
        <p:nvPicPr>
          <p:cNvPr id="91142" name="Picture 6" descr="acrp_nt_crop0038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C56E5464-D47F-48E1-A674-9A0BE018E677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40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9318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Enrichment:  An adaptive design</a:t>
            </a:r>
          </a:p>
        </p:txBody>
      </p:sp>
      <p:pic>
        <p:nvPicPr>
          <p:cNvPr id="93190" name="Picture 6" descr="acrp_nt_crop0039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7BDA0EAF-F26F-4344-9661-293ECB8DD35F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41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95235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Enrichment:  An adaptive design</a:t>
            </a:r>
          </a:p>
        </p:txBody>
      </p:sp>
      <p:pic>
        <p:nvPicPr>
          <p:cNvPr id="95238" name="Picture 6" descr="acrp_nt_crop0040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A5FA34F-836A-402F-868E-B38315D55A1B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42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97283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Enrichment:  An adaptive design</a:t>
            </a:r>
          </a:p>
        </p:txBody>
      </p:sp>
      <p:pic>
        <p:nvPicPr>
          <p:cNvPr id="97286" name="Picture 6" descr="acrp_nt_crop0041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60FB1D0D-D274-413C-845C-5A499BCA1F7F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43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99331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Simulation results:  Power of non-adaptive</a:t>
            </a:r>
            <a:br>
              <a:rPr lang="en-GB" sz="2000" b="1" smtClean="0"/>
            </a:br>
            <a:r>
              <a:rPr lang="en-GB" sz="2000" b="1" smtClean="0"/>
              <a:t>and adaptive designs</a:t>
            </a:r>
          </a:p>
        </p:txBody>
      </p:sp>
      <p:pic>
        <p:nvPicPr>
          <p:cNvPr id="99334" name="Picture 6" descr="acrp_nt_crop0042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7F1DD57F-FF86-49E1-80B3-AA83A1D40939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44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10137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Increasing power for finding a</a:t>
            </a:r>
            <a:br>
              <a:rPr lang="en-GB" sz="2000" b="1" smtClean="0"/>
            </a:br>
            <a:r>
              <a:rPr lang="en-GB" sz="2000" b="1" smtClean="0"/>
              <a:t>sub-population effect</a:t>
            </a:r>
          </a:p>
        </p:txBody>
      </p:sp>
      <p:pic>
        <p:nvPicPr>
          <p:cNvPr id="101382" name="Picture 6" descr="acrp_nt_crop0043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91763833-C2A7-4479-9A5E-9A074FE698A1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45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10342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Increasing power for finding a</a:t>
            </a:r>
            <a:br>
              <a:rPr lang="en-GB" sz="2000" b="1" smtClean="0"/>
            </a:br>
            <a:r>
              <a:rPr lang="en-GB" sz="2000" b="1" smtClean="0"/>
              <a:t>sub-population effect</a:t>
            </a:r>
          </a:p>
        </p:txBody>
      </p:sp>
      <p:pic>
        <p:nvPicPr>
          <p:cNvPr id="103430" name="Picture 6" descr="acrp_nt_crop0044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6287F9A9-950D-4971-A09A-C63D6BA59B45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46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105475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Enrichment:  Example</a:t>
            </a:r>
          </a:p>
        </p:txBody>
      </p:sp>
      <p:pic>
        <p:nvPicPr>
          <p:cNvPr id="105478" name="Picture 6" descr="acrp_nt_crop0045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90600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EBE9A91-257E-432A-815D-210B6DCF31E5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47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107523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Increasing power for finding a</a:t>
            </a:r>
            <a:br>
              <a:rPr lang="en-GB" sz="2000" b="1" smtClean="0"/>
            </a:br>
            <a:r>
              <a:rPr lang="en-GB" sz="2000" b="1" smtClean="0"/>
              <a:t>sub-population effect</a:t>
            </a:r>
          </a:p>
        </p:txBody>
      </p:sp>
      <p:pic>
        <p:nvPicPr>
          <p:cNvPr id="107526" name="Picture 6" descr="acrp_nt_crop0046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Date Placeholder 3"/>
          <p:cNvSpPr txBox="1">
            <a:spLocks noGrp="1"/>
          </p:cNvSpPr>
          <p:nvPr/>
        </p:nvSpPr>
        <p:spPr bwMode="auto">
          <a:xfrm>
            <a:off x="457200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venir LT Std 55 Roman"/>
            </a:endParaRPr>
          </a:p>
          <a:p>
            <a:endParaRPr lang="en-US" sz="120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40080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91F6F9D7-8899-43AA-8A20-5FEC21A6E669}" type="slidenum">
              <a:rPr lang="en-US" sz="1200">
                <a:solidFill>
                  <a:schemeClr val="bg1"/>
                </a:solidFill>
                <a:latin typeface="+mj-lt"/>
                <a:cs typeface="+mn-cs"/>
              </a:rPr>
              <a:pPr algn="r">
                <a:defRPr/>
              </a:pPr>
              <a:t>48</a:t>
            </a:fld>
            <a:endParaRPr lang="en-US" sz="120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109571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419100" indent="-419100"/>
            <a:r>
              <a:rPr lang="en-GB" sz="2000" b="1" smtClean="0"/>
              <a:t>Conclusions</a:t>
            </a:r>
          </a:p>
        </p:txBody>
      </p:sp>
      <p:pic>
        <p:nvPicPr>
          <p:cNvPr id="109574" name="Picture 6" descr="acrp_nt_crop0047"/>
          <p:cNvPicPr>
            <a:picLocks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69963" y="1295400"/>
            <a:ext cx="7204075" cy="48307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venir LT Std 55 Roman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386</Words>
  <Application>Microsoft Office PowerPoint</Application>
  <PresentationFormat>On-screen Show (4:3)</PresentationFormat>
  <Paragraphs>158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Avenir LT Std 35 Light</vt:lpstr>
      <vt:lpstr>Arial</vt:lpstr>
      <vt:lpstr>Arial Black</vt:lpstr>
      <vt:lpstr>Avenir LT Std 55 Roman</vt:lpstr>
      <vt:lpstr>Default Design</vt:lpstr>
      <vt:lpstr>Association of Clinical  Research Professionals  Academy of Pharmaceutical  Physicians and Investigators</vt:lpstr>
      <vt:lpstr>Adaptive Clinical Trials:  What do they Offer?</vt:lpstr>
      <vt:lpstr>Objectives for the training</vt:lpstr>
      <vt:lpstr>The role of adaptive methods</vt:lpstr>
      <vt:lpstr>Critical appraisal of adaptive designs</vt:lpstr>
      <vt:lpstr>Sample size modification for a nuisance parameter</vt:lpstr>
      <vt:lpstr>Internal pilots:  Wittes &amp; Brittain</vt:lpstr>
      <vt:lpstr>Internal pilots:  Properties</vt:lpstr>
      <vt:lpstr>Internal pilots:  Properties</vt:lpstr>
      <vt:lpstr>Sample size modification for a nuisance parameter</vt:lpstr>
      <vt:lpstr>Combination tests:  The inverse chi squared test</vt:lpstr>
      <vt:lpstr>Combination tests:  The inverse normal test</vt:lpstr>
      <vt:lpstr>Sample size re-estimation using a combination test</vt:lpstr>
      <vt:lpstr>Sample size re-estimation using a combination test</vt:lpstr>
      <vt:lpstr>Sample size modification for a nuisance parameter</vt:lpstr>
      <vt:lpstr>Group sequential tests</vt:lpstr>
      <vt:lpstr>Error spending group sequential tests</vt:lpstr>
      <vt:lpstr>Sample size modification for a nuisance parameter</vt:lpstr>
      <vt:lpstr>Information monitoring</vt:lpstr>
      <vt:lpstr>Sample size modification for a nuisance parameter</vt:lpstr>
      <vt:lpstr>2.  Sample size modification to increase power</vt:lpstr>
      <vt:lpstr>Sample size modification to increase power</vt:lpstr>
      <vt:lpstr>Sample size modification to increase power</vt:lpstr>
      <vt:lpstr>Sample size modification to increase power</vt:lpstr>
      <vt:lpstr>Sample size modification to increase power</vt:lpstr>
      <vt:lpstr>Sample size modification to increase power</vt:lpstr>
      <vt:lpstr>Sample size modification to increase power</vt:lpstr>
      <vt:lpstr>Sample size modification to increase power</vt:lpstr>
      <vt:lpstr>Sample size modification to increase power</vt:lpstr>
      <vt:lpstr>Sample size modification to increase power</vt:lpstr>
      <vt:lpstr>Sample size modification to increase power</vt:lpstr>
      <vt:lpstr>3.  Switching to a patient sub-population</vt:lpstr>
      <vt:lpstr>Enrichment:  Example</vt:lpstr>
      <vt:lpstr>Multiple testing procedures</vt:lpstr>
      <vt:lpstr>Closed testing procedures (Marcus et al, Biometrika, 1976)</vt:lpstr>
      <vt:lpstr>Enrichment:  Example</vt:lpstr>
      <vt:lpstr>Enrichment:  Example</vt:lpstr>
      <vt:lpstr>Enrichment:  Example</vt:lpstr>
      <vt:lpstr>Enrichment:  A closed testing procedure</vt:lpstr>
      <vt:lpstr>Enrichment:  An adaptive design</vt:lpstr>
      <vt:lpstr>Enrichment:  An adaptive design</vt:lpstr>
      <vt:lpstr>Enrichment:  An adaptive design</vt:lpstr>
      <vt:lpstr>Simulation results:  Power of non-adaptive and adaptive designs</vt:lpstr>
      <vt:lpstr>Increasing power for finding a sub-population effect</vt:lpstr>
      <vt:lpstr>Increasing power for finding a sub-population effect</vt:lpstr>
      <vt:lpstr>Enrichment:  Example</vt:lpstr>
      <vt:lpstr>Increasing power for finding a sub-population effect</vt:lpstr>
      <vt:lpstr>Conclusions</vt:lpstr>
    </vt:vector>
  </TitlesOfParts>
  <Company>ACRP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jenna</dc:creator>
  <cp:lastModifiedBy>Debbie Slater</cp:lastModifiedBy>
  <cp:revision>16</cp:revision>
  <dcterms:created xsi:type="dcterms:W3CDTF">2007-11-01T17:28:49Z</dcterms:created>
  <dcterms:modified xsi:type="dcterms:W3CDTF">2009-09-08T19:54:23Z</dcterms:modified>
</cp:coreProperties>
</file>