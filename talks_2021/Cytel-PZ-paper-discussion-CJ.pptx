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83" r:id="rId3"/>
    <p:sldId id="259" r:id="rId4"/>
    <p:sldId id="287" r:id="rId5"/>
    <p:sldId id="285" r:id="rId6"/>
    <p:sldId id="267" r:id="rId7"/>
    <p:sldId id="290" r:id="rId8"/>
    <p:sldId id="289" r:id="rId9"/>
    <p:sldId id="292" r:id="rId10"/>
    <p:sldId id="293" r:id="rId11"/>
    <p:sldId id="295" r:id="rId12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A316"/>
    <a:srgbClr val="FFBF00"/>
    <a:srgbClr val="FDB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847DC2-6E10-4039-8765-B23FBADBFD99}" type="datetimeFigureOut">
              <a:rPr lang="en-GB" smtClean="0"/>
              <a:t>14/12/2021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0D2D73-735E-48C7-9635-8B07613A3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0443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 his congress, we have heard</a:t>
            </a:r>
            <a:r>
              <a:rPr lang="en-GB" baseline="0" dirty="0"/>
              <a:t> about: ways of handling </a:t>
            </a:r>
            <a:r>
              <a:rPr lang="en-GB" dirty="0"/>
              <a:t>data, methods for analysing</a:t>
            </a:r>
            <a:r>
              <a:rPr lang="en-GB" baseline="0" dirty="0"/>
              <a:t> data, extracting the key information from big data</a:t>
            </a:r>
            <a:r>
              <a:rPr lang="en-GB" dirty="0"/>
              <a:t>.</a:t>
            </a:r>
          </a:p>
          <a:p>
            <a:r>
              <a:rPr lang="en-GB" dirty="0"/>
              <a:t>I am </a:t>
            </a:r>
          </a:p>
          <a:p>
            <a:r>
              <a:rPr lang="en-GB" dirty="0"/>
              <a:t>IN fact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0D2D73-735E-48C7-9635-8B07613A382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6500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D05C5-4D2E-488A-A213-8A4E68AA94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8F02D5-FD56-4217-A7B1-49C7231787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93A36-26F6-476E-BAE1-9CAE8E098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5C739-8B13-4B59-8142-7C641048D087}" type="datetimeFigureOut">
              <a:rPr lang="en-GB" smtClean="0"/>
              <a:t>14/12/2021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2021C-6E1A-46EE-9805-02039B1B8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1FC5C-9835-4939-84BA-8689095AD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C8E01-D3BA-4928-A64E-3B6C507F6D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3208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B855A-B8F3-40FC-A665-21EF43AB4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D6CE-115C-4916-A16C-CAAC589DF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1AE71-920D-4EF4-B61F-B7322C6C3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5C739-8B13-4B59-8142-7C641048D087}" type="datetimeFigureOut">
              <a:rPr lang="en-GB" smtClean="0"/>
              <a:t>14/12/2021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B78ED-A284-4E06-ACFF-2DC6088F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1FE39-EB4B-4CA6-AE23-0531F01F0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C8E01-D3BA-4928-A64E-3B6C507F6D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2314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BCC01-1EC3-49D2-9EB9-2EE125F69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7DA32-D9D9-4D07-ACA1-C8A90B4B2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00B24-ABEF-4E7E-8093-843B15C63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5C739-8B13-4B59-8142-7C641048D087}" type="datetimeFigureOut">
              <a:rPr lang="en-GB" smtClean="0"/>
              <a:t>14/12/2021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3EAFB-37A3-425A-96C7-6E8E3D625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7CA92-208F-467C-95DB-CECB5967C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C8E01-D3BA-4928-A64E-3B6C507F6D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4990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5D92C-83EE-47E2-BBD5-7961084FC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96EF5-BC87-4B5C-A711-DBA14DB42F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02A191-73E9-4BCC-BB2F-2F2F2B4E2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65FBB3-CE28-4966-A8DC-AD29C660C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5C739-8B13-4B59-8142-7C641048D087}" type="datetimeFigureOut">
              <a:rPr lang="en-GB" smtClean="0"/>
              <a:t>14/12/2021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9CEB5D-65F2-4C93-A5B8-A0D0F8761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58614D-3DBD-40DB-9ED1-DD058FBE1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C8E01-D3BA-4928-A64E-3B6C507F6D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0855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3E0FA-4F20-479B-82B4-CE11B773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A52483-8E44-4953-990E-728695FF3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2D4463-6C97-49A9-9CF0-3C4C4AD0F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32F8E7-724C-44D8-972F-573C1A4D1C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D4C9F6-C9BF-4FB6-9A0A-D49F57CB38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7C59E-3F0C-4A4F-8536-2889940C7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5C739-8B13-4B59-8142-7C641048D087}" type="datetimeFigureOut">
              <a:rPr lang="en-GB" smtClean="0"/>
              <a:t>14/12/2021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CE511C-96B9-4452-AB43-23A6487F1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4DDE74-0D61-4D09-9816-EB6BAFB55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C8E01-D3BA-4928-A64E-3B6C507F6D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7959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B06C2-DD6D-45D4-9FA6-738C4679B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A7FAC2-6E0F-402B-A33A-A36797727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5C739-8B13-4B59-8142-7C641048D087}" type="datetimeFigureOut">
              <a:rPr lang="en-GB" smtClean="0"/>
              <a:t>14/12/2021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974DEB-FD2C-490B-A07D-3FC71B7B2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828EEE-0874-49C4-8953-BD05CB95D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C8E01-D3BA-4928-A64E-3B6C507F6D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6516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3FB546-2387-406A-AD1C-A50E81436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5C739-8B13-4B59-8142-7C641048D087}" type="datetimeFigureOut">
              <a:rPr lang="en-GB" smtClean="0"/>
              <a:t>14/12/2021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357441-EED9-4455-A811-18AFEDE4D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ED883-1B0E-44D5-8A78-58F463C1A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C8E01-D3BA-4928-A64E-3B6C507F6D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3155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D58CC-C3E3-4681-AECE-C32AC14D9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7816D-0252-4AA7-B94C-AA17558A8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267B2-D021-4915-8B4D-D567B3118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FACB8-1672-4B94-A482-3EDC844C9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5C739-8B13-4B59-8142-7C641048D087}" type="datetimeFigureOut">
              <a:rPr lang="en-GB" smtClean="0"/>
              <a:t>14/12/2021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35D22-FABA-4A49-A68A-16B8FBF7E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F96D2-CA5F-4C93-A088-38349F6C6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C8E01-D3BA-4928-A64E-3B6C507F6D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0279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2DDD8-0C11-4216-8FBE-2124CB583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228EE2-A0F4-40A7-851E-C03635AAD4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E9AE1D-CA0F-4774-8275-0E3B0923D6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14F6FC-1DBC-4437-AAB5-252594F3B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5C739-8B13-4B59-8142-7C641048D087}" type="datetimeFigureOut">
              <a:rPr lang="en-GB" smtClean="0"/>
              <a:t>14/12/2021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57DE0A-7570-42A0-8CB6-5B621C87B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2CDCDB-E67D-4274-8A86-BC711BBD7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C8E01-D3BA-4928-A64E-3B6C507F6D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4286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60488-93A3-45C4-B456-D832BACF9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CE361-D43E-463F-AE61-F1C247005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677E6-B737-4E1C-8C7B-34522BAD4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5C739-8B13-4B59-8142-7C641048D087}" type="datetimeFigureOut">
              <a:rPr lang="en-GB" smtClean="0"/>
              <a:t>14/12/2021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7AECF-7449-480A-8528-C7483A37C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CFCE5-1EC2-45A1-B08D-7F0F8EB66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C8E01-D3BA-4928-A64E-3B6C507F6D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9988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879D19-8525-4F87-9E87-FD7C0AD8B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8D75EA-B6B3-4BC2-9B05-1FD6712296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D858F-718C-421F-948E-8A6CF77A7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5C739-8B13-4B59-8142-7C641048D087}" type="datetimeFigureOut">
              <a:rPr lang="en-GB" smtClean="0"/>
              <a:t>14/12/2021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1EC5F-1FE5-4703-BEC2-B57D55080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65765-076D-4A9D-9A47-FA0FDC5AC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C8E01-D3BA-4928-A64E-3B6C507F6D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9198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B0B739-D451-40E4-B483-A465C0267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DD980B-B572-4336-A770-B056F672C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1C37A-D3E3-4F08-8DEF-55C1DE55F0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5C739-8B13-4B59-8142-7C641048D087}" type="datetimeFigureOut">
              <a:rPr lang="en-GB" smtClean="0"/>
              <a:t>14/12/2021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64D3C-9BF5-46F6-A25C-FF6AF1123A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CE74B-5FA0-4D3B-8ACC-A3DD5B362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1C8E01-D3BA-4928-A64E-3B6C507F6D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0052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4DF6F-E3A7-4092-9A02-B978CD29B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9973" y="620039"/>
            <a:ext cx="9682619" cy="3557392"/>
          </a:xfrm>
        </p:spPr>
        <p:txBody>
          <a:bodyPr>
            <a:noAutofit/>
          </a:bodyPr>
          <a:lstStyle/>
          <a:p>
            <a:pPr>
              <a:lnSpc>
                <a:spcPct val="140000"/>
              </a:lnSpc>
              <a:spcBef>
                <a:spcPts val="1200"/>
              </a:spcBef>
            </a:pPr>
            <a:r>
              <a:rPr lang="en-GB" sz="3200" dirty="0">
                <a:latin typeface="+mn-lt"/>
              </a:rPr>
              <a:t>Discussion of</a:t>
            </a:r>
            <a:br>
              <a:rPr lang="en-GB" sz="3200" b="1" dirty="0">
                <a:latin typeface="+mn-lt"/>
              </a:rPr>
            </a:br>
            <a:r>
              <a:rPr lang="en-GB" sz="3200" b="1" dirty="0">
                <a:latin typeface="+mn-lt"/>
              </a:rPr>
              <a:t>Adaptive increase in sample size when interim results</a:t>
            </a:r>
            <a:br>
              <a:rPr lang="en-GB" sz="3200" b="1" dirty="0">
                <a:latin typeface="+mn-lt"/>
              </a:rPr>
            </a:br>
            <a:r>
              <a:rPr lang="en-GB" sz="3200" b="1" dirty="0">
                <a:latin typeface="+mn-lt"/>
              </a:rPr>
              <a:t>are promising: A practical guide with examples</a:t>
            </a:r>
            <a:br>
              <a:rPr lang="en-GB" sz="3200" b="1" dirty="0">
                <a:latin typeface="+mn-lt"/>
              </a:rPr>
            </a:br>
            <a:r>
              <a:rPr lang="en-GB" sz="3200" b="1" dirty="0">
                <a:latin typeface="+mn-lt"/>
              </a:rPr>
              <a:t>by Cyrus Mehta and Stuart Pocock</a:t>
            </a:r>
            <a:br>
              <a:rPr lang="en-GB" sz="3200" b="1" dirty="0">
                <a:latin typeface="+mn-lt"/>
              </a:rPr>
            </a:br>
            <a:r>
              <a:rPr lang="en-GB" sz="3200" i="1" dirty="0">
                <a:latin typeface="+mn-lt"/>
              </a:rPr>
              <a:t>(Statistics in Medicine 2011)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755AC1-D089-4F1D-B6B3-3C29CAB8A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5758" y="4546948"/>
            <a:ext cx="9252784" cy="211816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GB" sz="3200" b="1" dirty="0">
                <a:solidFill>
                  <a:srgbClr val="0070C0"/>
                </a:solidFill>
              </a:rPr>
              <a:t>Professor Chris Jennison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GB" sz="3200" b="1" dirty="0">
                <a:solidFill>
                  <a:srgbClr val="0070C0"/>
                </a:solidFill>
              </a:rPr>
              <a:t>University of Bath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GB" sz="3200" b="1" dirty="0">
                <a:solidFill>
                  <a:srgbClr val="0070C0"/>
                </a:solidFill>
              </a:rPr>
              <a:t>http://people.bath.ac.uk/mascj</a:t>
            </a:r>
          </a:p>
          <a:p>
            <a:pPr>
              <a:lnSpc>
                <a:spcPts val="4000"/>
              </a:lnSpc>
            </a:pP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647346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BBECA-B471-434A-B421-56F2FBD86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6586942" cy="11461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Sample </a:t>
            </a:r>
            <a:r>
              <a:rPr lang="en-US" sz="3600" b="1" dirty="0"/>
              <a:t>S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ize </a:t>
            </a:r>
            <a:r>
              <a:rPr lang="en-US" sz="3600" b="1" dirty="0"/>
              <a:t>R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e-estimation (SSR) approach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5C7EBC3-4672-4DAB-81C2-58661FAFA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8805" y="-2"/>
            <a:ext cx="6013194" cy="1511304"/>
          </a:xfrm>
          <a:custGeom>
            <a:avLst/>
            <a:gdLst>
              <a:gd name="connsiteX0" fmla="*/ 4545473 w 6013194"/>
              <a:gd name="connsiteY0" fmla="*/ 0 h 1511304"/>
              <a:gd name="connsiteX1" fmla="*/ 6013194 w 6013194"/>
              <a:gd name="connsiteY1" fmla="*/ 0 h 1511304"/>
              <a:gd name="connsiteX2" fmla="*/ 6013194 w 6013194"/>
              <a:gd name="connsiteY2" fmla="*/ 1508760 h 1511304"/>
              <a:gd name="connsiteX3" fmla="*/ 4545474 w 6013194"/>
              <a:gd name="connsiteY3" fmla="*/ 1508760 h 1511304"/>
              <a:gd name="connsiteX4" fmla="*/ 4545474 w 6013194"/>
              <a:gd name="connsiteY4" fmla="*/ 1511304 h 1511304"/>
              <a:gd name="connsiteX5" fmla="*/ 0 w 6013194"/>
              <a:gd name="connsiteY5" fmla="*/ 1511304 h 1511304"/>
              <a:gd name="connsiteX6" fmla="*/ 697617 w 6013194"/>
              <a:gd name="connsiteY6" fmla="*/ 3 h 1511304"/>
              <a:gd name="connsiteX7" fmla="*/ 4545473 w 6013194"/>
              <a:gd name="connsiteY7" fmla="*/ 3 h 151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13194" h="1511304">
                <a:moveTo>
                  <a:pt x="4545473" y="0"/>
                </a:moveTo>
                <a:lnTo>
                  <a:pt x="6013194" y="0"/>
                </a:lnTo>
                <a:lnTo>
                  <a:pt x="6013194" y="1508760"/>
                </a:lnTo>
                <a:lnTo>
                  <a:pt x="4545474" y="1508760"/>
                </a:lnTo>
                <a:lnTo>
                  <a:pt x="4545474" y="1511304"/>
                </a:lnTo>
                <a:lnTo>
                  <a:pt x="0" y="1511304"/>
                </a:lnTo>
                <a:lnTo>
                  <a:pt x="697617" y="3"/>
                </a:lnTo>
                <a:lnTo>
                  <a:pt x="4545473" y="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0BF962F-4C6F-461E-86F2-C43F56CC9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0797" y="1690688"/>
            <a:ext cx="8711202" cy="5167312"/>
          </a:xfrm>
          <a:custGeom>
            <a:avLst/>
            <a:gdLst>
              <a:gd name="connsiteX0" fmla="*/ 0 w 8711202"/>
              <a:gd name="connsiteY0" fmla="*/ 0 h 5167312"/>
              <a:gd name="connsiteX1" fmla="*/ 7243482 w 8711202"/>
              <a:gd name="connsiteY1" fmla="*/ 0 h 5167312"/>
              <a:gd name="connsiteX2" fmla="*/ 8711202 w 8711202"/>
              <a:gd name="connsiteY2" fmla="*/ 0 h 5167312"/>
              <a:gd name="connsiteX3" fmla="*/ 8711202 w 8711202"/>
              <a:gd name="connsiteY3" fmla="*/ 5167312 h 5167312"/>
              <a:gd name="connsiteX4" fmla="*/ 7243482 w 8711202"/>
              <a:gd name="connsiteY4" fmla="*/ 5167312 h 5167312"/>
              <a:gd name="connsiteX5" fmla="*/ 221324 w 8711202"/>
              <a:gd name="connsiteY5" fmla="*/ 5167312 h 5167312"/>
              <a:gd name="connsiteX6" fmla="*/ 2615203 w 8711202"/>
              <a:gd name="connsiteY6" fmla="*/ 952 h 5167312"/>
              <a:gd name="connsiteX7" fmla="*/ 0 w 8711202"/>
              <a:gd name="connsiteY7" fmla="*/ 952 h 516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1202" h="5167312">
                <a:moveTo>
                  <a:pt x="0" y="0"/>
                </a:moveTo>
                <a:lnTo>
                  <a:pt x="7243482" y="0"/>
                </a:lnTo>
                <a:lnTo>
                  <a:pt x="8711202" y="0"/>
                </a:lnTo>
                <a:lnTo>
                  <a:pt x="8711202" y="5167312"/>
                </a:lnTo>
                <a:lnTo>
                  <a:pt x="7243482" y="5167312"/>
                </a:lnTo>
                <a:lnTo>
                  <a:pt x="221324" y="5167312"/>
                </a:lnTo>
                <a:lnTo>
                  <a:pt x="2615203" y="952"/>
                </a:lnTo>
                <a:lnTo>
                  <a:pt x="0" y="952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E94A4F7-38E4-45EA-8E2E-CE1B5766B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5931454" cy="5166360"/>
          </a:xfrm>
          <a:custGeom>
            <a:avLst/>
            <a:gdLst>
              <a:gd name="connsiteX0" fmla="*/ 0 w 5931454"/>
              <a:gd name="connsiteY0" fmla="*/ 0 h 5166360"/>
              <a:gd name="connsiteX1" fmla="*/ 5931454 w 5931454"/>
              <a:gd name="connsiteY1" fmla="*/ 0 h 5166360"/>
              <a:gd name="connsiteX2" fmla="*/ 3537575 w 5931454"/>
              <a:gd name="connsiteY2" fmla="*/ 5166360 h 5166360"/>
              <a:gd name="connsiteX3" fmla="*/ 0 w 5931454"/>
              <a:gd name="connsiteY3" fmla="*/ 5166360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31454" h="5166360">
                <a:moveTo>
                  <a:pt x="0" y="0"/>
                </a:moveTo>
                <a:lnTo>
                  <a:pt x="5931454" y="0"/>
                </a:lnTo>
                <a:lnTo>
                  <a:pt x="3537575" y="5166360"/>
                </a:lnTo>
                <a:lnTo>
                  <a:pt x="0" y="5166360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EB2228-4E0A-4C4E-A84D-38918FE96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785" y="1795909"/>
            <a:ext cx="4624628" cy="5062091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spcBef>
                <a:spcPts val="0"/>
              </a:spcBef>
            </a:pPr>
            <a:endParaRPr lang="en-US" sz="2400" dirty="0">
              <a:solidFill>
                <a:srgbClr val="FFFFFF"/>
              </a:solidFill>
            </a:endParaRPr>
          </a:p>
          <a:p>
            <a:pPr>
              <a:spcBef>
                <a:spcPts val="0"/>
              </a:spcBef>
            </a:pPr>
            <a:r>
              <a:rPr lang="en-US" sz="2400" dirty="0">
                <a:solidFill>
                  <a:srgbClr val="FFFFFF"/>
                </a:solidFill>
              </a:rPr>
              <a:t>Start with an initial specification of</a:t>
            </a:r>
          </a:p>
          <a:p>
            <a:pPr marL="342900" indent="-342900" defTabSz="540000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	Type I error rate </a:t>
            </a:r>
            <a:r>
              <a:rPr lang="el-GR" sz="2400" dirty="0">
                <a:solidFill>
                  <a:srgbClr val="FFFFFF"/>
                </a:solidFill>
              </a:rPr>
              <a:t>α</a:t>
            </a:r>
            <a:endParaRPr lang="en-GB" sz="2400" dirty="0">
              <a:solidFill>
                <a:srgbClr val="FFFFFF"/>
              </a:solidFill>
            </a:endParaRPr>
          </a:p>
          <a:p>
            <a:pPr marL="342900" indent="-342900" defTabSz="540000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FFFF"/>
                </a:solidFill>
              </a:rPr>
              <a:t>	Power 1-</a:t>
            </a:r>
            <a:r>
              <a:rPr lang="el-GR" sz="2400" dirty="0">
                <a:solidFill>
                  <a:srgbClr val="FFFFFF"/>
                </a:solidFill>
              </a:rPr>
              <a:t>β</a:t>
            </a:r>
            <a:r>
              <a:rPr lang="en-GB" sz="2400" dirty="0">
                <a:solidFill>
                  <a:srgbClr val="FFFFFF"/>
                </a:solidFill>
              </a:rPr>
              <a:t> when treatment 	effect = </a:t>
            </a:r>
            <a:r>
              <a:rPr lang="el-GR" sz="2400" dirty="0">
                <a:solidFill>
                  <a:srgbClr val="FFFFFF"/>
                </a:solidFill>
              </a:rPr>
              <a:t>δ</a:t>
            </a:r>
            <a:r>
              <a:rPr lang="en-GB" sz="2400" baseline="-25000" dirty="0">
                <a:solidFill>
                  <a:srgbClr val="FFFFFF"/>
                </a:solidFill>
              </a:rPr>
              <a:t>0</a:t>
            </a:r>
          </a:p>
          <a:p>
            <a:pPr marL="342900" indent="-342900" defTabSz="5400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FFFFFF"/>
              </a:solidFill>
            </a:endParaRPr>
          </a:p>
          <a:p>
            <a:pPr defTabSz="540000">
              <a:lnSpc>
                <a:spcPct val="120000"/>
              </a:lnSpc>
              <a:spcBef>
                <a:spcPts val="0"/>
              </a:spcBef>
            </a:pPr>
            <a:r>
              <a:rPr lang="en-GB" sz="2400" dirty="0">
                <a:solidFill>
                  <a:srgbClr val="FFFFFF"/>
                </a:solidFill>
              </a:rPr>
              <a:t>Hence, define a fixed sample or group sequential design.</a:t>
            </a:r>
          </a:p>
          <a:p>
            <a:pPr>
              <a:spcBef>
                <a:spcPts val="0"/>
              </a:spcBef>
            </a:pPr>
            <a:endParaRPr lang="en-US" sz="2400" dirty="0">
              <a:solidFill>
                <a:srgbClr val="FFFFFF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400" dirty="0">
                <a:solidFill>
                  <a:srgbClr val="FFFFFF"/>
                </a:solidFill>
              </a:rPr>
              <a:t>But, at an interim analysis,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400" dirty="0">
                <a:solidFill>
                  <a:srgbClr val="FFFFFF"/>
                </a:solidFill>
              </a:rPr>
              <a:t>re-visit the power requirement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400" dirty="0">
                <a:solidFill>
                  <a:srgbClr val="FFFFFF"/>
                </a:solidFill>
              </a:rPr>
              <a:t>and, if appropriate, change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400" dirty="0">
                <a:solidFill>
                  <a:srgbClr val="FFFFFF"/>
                </a:solidFill>
              </a:rPr>
              <a:t>the study design.</a:t>
            </a:r>
            <a:endParaRPr lang="en-US" sz="2000" dirty="0">
              <a:solidFill>
                <a:srgbClr val="FFFFFF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2079B0-C296-4FE6-A174-FB97D0A37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8805" y="1690688"/>
            <a:ext cx="5811032" cy="516731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1800"/>
              </a:spcBef>
              <a:buNone/>
            </a:pPr>
            <a:r>
              <a:rPr lang="en-GB" sz="2600" b="1" dirty="0">
                <a:solidFill>
                  <a:srgbClr val="0070C0"/>
                </a:solidFill>
              </a:rPr>
              <a:t>An SSR rule</a:t>
            </a:r>
          </a:p>
          <a:p>
            <a:pPr marL="0" indent="0">
              <a:lnSpc>
                <a:spcPct val="150000"/>
              </a:lnSpc>
              <a:spcBef>
                <a:spcPts val="1800"/>
              </a:spcBef>
              <a:buNone/>
            </a:pPr>
            <a:r>
              <a:rPr lang="en-GB" sz="2600" b="1" dirty="0">
                <a:solidFill>
                  <a:srgbClr val="0070C0"/>
                </a:solidFill>
              </a:rPr>
              <a:t>  </a:t>
            </a:r>
          </a:p>
        </p:txBody>
      </p:sp>
      <p:pic>
        <p:nvPicPr>
          <p:cNvPr id="6" name="Picture 5" descr="Graphical user interface, chart, line chart&#10;&#10;Description automatically generated">
            <a:extLst>
              <a:ext uri="{FF2B5EF4-FFF2-40B4-BE49-F238E27FC236}">
                <a16:creationId xmlns:a16="http://schemas.microsoft.com/office/drawing/2014/main" id="{EC3E04AA-02AD-43A6-A44C-D5A255AF63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5722" y="2453950"/>
            <a:ext cx="4253057" cy="416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259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BBECA-B471-434A-B421-56F2FBD86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6178805" cy="11461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/>
              <a:t>Group Sequential Tests (GSTs)</a:t>
            </a:r>
            <a:endParaRPr lang="en-US" b="1" kern="1200" dirty="0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5C7EBC3-4672-4DAB-81C2-58661FAFA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8805" y="-2"/>
            <a:ext cx="6013194" cy="1511304"/>
          </a:xfrm>
          <a:custGeom>
            <a:avLst/>
            <a:gdLst>
              <a:gd name="connsiteX0" fmla="*/ 4545473 w 6013194"/>
              <a:gd name="connsiteY0" fmla="*/ 0 h 1511304"/>
              <a:gd name="connsiteX1" fmla="*/ 6013194 w 6013194"/>
              <a:gd name="connsiteY1" fmla="*/ 0 h 1511304"/>
              <a:gd name="connsiteX2" fmla="*/ 6013194 w 6013194"/>
              <a:gd name="connsiteY2" fmla="*/ 1508760 h 1511304"/>
              <a:gd name="connsiteX3" fmla="*/ 4545474 w 6013194"/>
              <a:gd name="connsiteY3" fmla="*/ 1508760 h 1511304"/>
              <a:gd name="connsiteX4" fmla="*/ 4545474 w 6013194"/>
              <a:gd name="connsiteY4" fmla="*/ 1511304 h 1511304"/>
              <a:gd name="connsiteX5" fmla="*/ 0 w 6013194"/>
              <a:gd name="connsiteY5" fmla="*/ 1511304 h 1511304"/>
              <a:gd name="connsiteX6" fmla="*/ 697617 w 6013194"/>
              <a:gd name="connsiteY6" fmla="*/ 3 h 1511304"/>
              <a:gd name="connsiteX7" fmla="*/ 4545473 w 6013194"/>
              <a:gd name="connsiteY7" fmla="*/ 3 h 151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13194" h="1511304">
                <a:moveTo>
                  <a:pt x="4545473" y="0"/>
                </a:moveTo>
                <a:lnTo>
                  <a:pt x="6013194" y="0"/>
                </a:lnTo>
                <a:lnTo>
                  <a:pt x="6013194" y="1508760"/>
                </a:lnTo>
                <a:lnTo>
                  <a:pt x="4545474" y="1508760"/>
                </a:lnTo>
                <a:lnTo>
                  <a:pt x="4545474" y="1511304"/>
                </a:lnTo>
                <a:lnTo>
                  <a:pt x="0" y="1511304"/>
                </a:lnTo>
                <a:lnTo>
                  <a:pt x="697617" y="3"/>
                </a:lnTo>
                <a:lnTo>
                  <a:pt x="4545473" y="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0BF962F-4C6F-461E-86F2-C43F56CC9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0797" y="1690688"/>
            <a:ext cx="8711202" cy="5167312"/>
          </a:xfrm>
          <a:custGeom>
            <a:avLst/>
            <a:gdLst>
              <a:gd name="connsiteX0" fmla="*/ 0 w 8711202"/>
              <a:gd name="connsiteY0" fmla="*/ 0 h 5167312"/>
              <a:gd name="connsiteX1" fmla="*/ 7243482 w 8711202"/>
              <a:gd name="connsiteY1" fmla="*/ 0 h 5167312"/>
              <a:gd name="connsiteX2" fmla="*/ 8711202 w 8711202"/>
              <a:gd name="connsiteY2" fmla="*/ 0 h 5167312"/>
              <a:gd name="connsiteX3" fmla="*/ 8711202 w 8711202"/>
              <a:gd name="connsiteY3" fmla="*/ 5167312 h 5167312"/>
              <a:gd name="connsiteX4" fmla="*/ 7243482 w 8711202"/>
              <a:gd name="connsiteY4" fmla="*/ 5167312 h 5167312"/>
              <a:gd name="connsiteX5" fmla="*/ 221324 w 8711202"/>
              <a:gd name="connsiteY5" fmla="*/ 5167312 h 5167312"/>
              <a:gd name="connsiteX6" fmla="*/ 2615203 w 8711202"/>
              <a:gd name="connsiteY6" fmla="*/ 952 h 5167312"/>
              <a:gd name="connsiteX7" fmla="*/ 0 w 8711202"/>
              <a:gd name="connsiteY7" fmla="*/ 952 h 516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1202" h="5167312">
                <a:moveTo>
                  <a:pt x="0" y="0"/>
                </a:moveTo>
                <a:lnTo>
                  <a:pt x="7243482" y="0"/>
                </a:lnTo>
                <a:lnTo>
                  <a:pt x="8711202" y="0"/>
                </a:lnTo>
                <a:lnTo>
                  <a:pt x="8711202" y="5167312"/>
                </a:lnTo>
                <a:lnTo>
                  <a:pt x="7243482" y="5167312"/>
                </a:lnTo>
                <a:lnTo>
                  <a:pt x="221324" y="5167312"/>
                </a:lnTo>
                <a:lnTo>
                  <a:pt x="2615203" y="952"/>
                </a:lnTo>
                <a:lnTo>
                  <a:pt x="0" y="952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E94A4F7-38E4-45EA-8E2E-CE1B5766B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5931454" cy="5166360"/>
          </a:xfrm>
          <a:custGeom>
            <a:avLst/>
            <a:gdLst>
              <a:gd name="connsiteX0" fmla="*/ 0 w 5931454"/>
              <a:gd name="connsiteY0" fmla="*/ 0 h 5166360"/>
              <a:gd name="connsiteX1" fmla="*/ 5931454 w 5931454"/>
              <a:gd name="connsiteY1" fmla="*/ 0 h 5166360"/>
              <a:gd name="connsiteX2" fmla="*/ 3537575 w 5931454"/>
              <a:gd name="connsiteY2" fmla="*/ 5166360 h 5166360"/>
              <a:gd name="connsiteX3" fmla="*/ 0 w 5931454"/>
              <a:gd name="connsiteY3" fmla="*/ 5166360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31454" h="5166360">
                <a:moveTo>
                  <a:pt x="0" y="0"/>
                </a:moveTo>
                <a:lnTo>
                  <a:pt x="5931454" y="0"/>
                </a:lnTo>
                <a:lnTo>
                  <a:pt x="3537575" y="5166360"/>
                </a:lnTo>
                <a:lnTo>
                  <a:pt x="0" y="5166360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EB2228-4E0A-4C4E-A84D-38918FE96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9290" y="1876430"/>
            <a:ext cx="4692456" cy="53416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540000">
              <a:lnSpc>
                <a:spcPct val="120000"/>
              </a:lnSpc>
              <a:spcBef>
                <a:spcPts val="0"/>
              </a:spcBef>
            </a:pPr>
            <a:r>
              <a:rPr lang="en-US" sz="2400" dirty="0">
                <a:solidFill>
                  <a:srgbClr val="FFFFFF"/>
                </a:solidFill>
              </a:rPr>
              <a:t>Fix</a:t>
            </a:r>
          </a:p>
          <a:p>
            <a:pPr marL="342900" indent="-342900" defTabSz="5400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	Type I error rate </a:t>
            </a:r>
            <a:r>
              <a:rPr lang="el-GR" sz="2400" dirty="0">
                <a:solidFill>
                  <a:srgbClr val="FFFFFF"/>
                </a:solidFill>
              </a:rPr>
              <a:t>α</a:t>
            </a:r>
            <a:endParaRPr lang="en-GB" sz="2400" dirty="0">
              <a:solidFill>
                <a:srgbClr val="FFFFFF"/>
              </a:solidFill>
            </a:endParaRPr>
          </a:p>
          <a:p>
            <a:pPr marL="342900" indent="-342900" defTabSz="5400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FFFF"/>
                </a:solidFill>
              </a:rPr>
              <a:t>	Power 1-</a:t>
            </a:r>
            <a:r>
              <a:rPr lang="el-GR" sz="2400" dirty="0">
                <a:solidFill>
                  <a:srgbClr val="FFFFFF"/>
                </a:solidFill>
              </a:rPr>
              <a:t>β</a:t>
            </a:r>
            <a:r>
              <a:rPr lang="en-GB" sz="2400" dirty="0">
                <a:solidFill>
                  <a:srgbClr val="FFFFFF"/>
                </a:solidFill>
              </a:rPr>
              <a:t> when treatment 	effect = </a:t>
            </a:r>
            <a:r>
              <a:rPr lang="el-GR" sz="2400" dirty="0">
                <a:solidFill>
                  <a:srgbClr val="FFFFFF"/>
                </a:solidFill>
              </a:rPr>
              <a:t>δ</a:t>
            </a:r>
            <a:endParaRPr lang="en-GB" sz="2400" dirty="0">
              <a:solidFill>
                <a:srgbClr val="FFFFFF"/>
              </a:solidFill>
            </a:endParaRPr>
          </a:p>
          <a:p>
            <a:pPr marL="342900" indent="-342900" defTabSz="5400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FFFF"/>
                </a:solidFill>
              </a:rPr>
              <a:t>	Set maximum sample size</a:t>
            </a:r>
          </a:p>
          <a:p>
            <a:pPr marL="342900" indent="-342900" defTabSz="5400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FFFF"/>
                </a:solidFill>
              </a:rPr>
              <a:t>	Set number of interim analyses</a:t>
            </a:r>
          </a:p>
          <a:p>
            <a:pPr marL="342900" indent="-342900" defTabSz="54000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FFFFFF"/>
              </a:solidFill>
            </a:endParaRPr>
          </a:p>
          <a:p>
            <a:pPr defTabSz="540000">
              <a:lnSpc>
                <a:spcPct val="120000"/>
              </a:lnSpc>
              <a:spcBef>
                <a:spcPts val="0"/>
              </a:spcBef>
            </a:pPr>
            <a:r>
              <a:rPr lang="en-GB" sz="2400" dirty="0">
                <a:solidFill>
                  <a:srgbClr val="FFFFFF"/>
                </a:solidFill>
              </a:rPr>
              <a:t>Hence, define</a:t>
            </a:r>
          </a:p>
          <a:p>
            <a:pPr defTabSz="540000">
              <a:lnSpc>
                <a:spcPct val="120000"/>
              </a:lnSpc>
              <a:spcBef>
                <a:spcPts val="0"/>
              </a:spcBef>
            </a:pPr>
            <a:r>
              <a:rPr lang="en-GB" sz="2400" dirty="0">
                <a:solidFill>
                  <a:srgbClr val="FFFFFF"/>
                </a:solidFill>
              </a:rPr>
              <a:t>	A stopping boundary or</a:t>
            </a:r>
          </a:p>
          <a:p>
            <a:pPr defTabSz="540000">
              <a:lnSpc>
                <a:spcPct val="120000"/>
              </a:lnSpc>
              <a:spcBef>
                <a:spcPts val="0"/>
              </a:spcBef>
            </a:pPr>
            <a:r>
              <a:rPr lang="en-GB" sz="2400" dirty="0">
                <a:solidFill>
                  <a:srgbClr val="FFFFFF"/>
                </a:solidFill>
              </a:rPr>
              <a:t>	An error spending rule.</a:t>
            </a:r>
          </a:p>
          <a:p>
            <a:pPr>
              <a:spcBef>
                <a:spcPts val="0"/>
              </a:spcBef>
            </a:pPr>
            <a:r>
              <a:rPr lang="en-GB" sz="2400" dirty="0">
                <a:solidFill>
                  <a:srgbClr val="FFFFFF"/>
                </a:solidFill>
              </a:rPr>
              <a:t>	</a:t>
            </a:r>
            <a:endParaRPr lang="en-US" sz="2400" dirty="0">
              <a:solidFill>
                <a:srgbClr val="FFFFFF"/>
              </a:solidFill>
            </a:endParaRPr>
          </a:p>
          <a:p>
            <a:pPr marL="342900" indent="-228600">
              <a:spcBef>
                <a:spcPts val="240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FFFF"/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2079B0-C296-4FE6-A174-FB97D0A37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1456" y="1795909"/>
            <a:ext cx="6043426" cy="499677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1800"/>
              </a:spcBef>
              <a:buNone/>
            </a:pPr>
            <a:r>
              <a:rPr lang="en-GB" sz="2600" b="1" dirty="0">
                <a:solidFill>
                  <a:srgbClr val="0070C0"/>
                </a:solidFill>
              </a:rPr>
              <a:t>Stopping boundary for a GST</a:t>
            </a:r>
          </a:p>
        </p:txBody>
      </p:sp>
      <p:pic>
        <p:nvPicPr>
          <p:cNvPr id="12" name="Picture 11" descr="Chart, scatter chart&#10;&#10;Description automatically generated">
            <a:extLst>
              <a:ext uri="{FF2B5EF4-FFF2-40B4-BE49-F238E27FC236}">
                <a16:creationId xmlns:a16="http://schemas.microsoft.com/office/drawing/2014/main" id="{BE5C37AB-A5C9-4793-B32A-E8F92B2E52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182" y="2512407"/>
            <a:ext cx="4141089" cy="4122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416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1B215-F131-4BA2-8686-E28536BA7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870" y="436206"/>
            <a:ext cx="10505933" cy="1188720"/>
          </a:xfrm>
        </p:spPr>
        <p:txBody>
          <a:bodyPr>
            <a:normAutofit fontScale="90000"/>
          </a:bodyPr>
          <a:lstStyle/>
          <a:p>
            <a:pPr algn="ctr">
              <a:lnSpc>
                <a:spcPct val="120000"/>
              </a:lnSpc>
              <a:spcBef>
                <a:spcPts val="1800"/>
              </a:spcBef>
            </a:pPr>
            <a:r>
              <a:rPr lang="en-US" sz="3200" b="1" dirty="0">
                <a:solidFill>
                  <a:srgbClr val="002060"/>
                </a:solidFill>
              </a:rPr>
              <a:t>Sample Size Re-estimation (SSR)  vs  Group Sequential Tests (GSTs)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E5362-8495-429D-AC9B-10D90EDBD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5870" y="2061132"/>
            <a:ext cx="9638851" cy="4574333"/>
          </a:xfrm>
        </p:spPr>
        <p:txBody>
          <a:bodyPr anchor="t">
            <a:normAutofit/>
          </a:bodyPr>
          <a:lstStyle/>
          <a:p>
            <a:pPr marL="0" indent="0" defTabSz="720000">
              <a:spcBef>
                <a:spcPts val="1800"/>
              </a:spcBef>
              <a:spcAft>
                <a:spcPts val="600"/>
              </a:spcAft>
              <a:buNone/>
            </a:pPr>
            <a:r>
              <a:rPr lang="en-GB" sz="2400" dirty="0">
                <a:solidFill>
                  <a:srgbClr val="002060"/>
                </a:solidFill>
              </a:rPr>
              <a:t>SSR Methods – “Start small and ask for more”</a:t>
            </a:r>
          </a:p>
          <a:p>
            <a:pPr marL="457200" lvl="1" indent="0" defTabSz="720000">
              <a:spcBef>
                <a:spcPts val="1800"/>
              </a:spcBef>
              <a:buNone/>
            </a:pPr>
            <a:r>
              <a:rPr lang="en-GB" dirty="0">
                <a:solidFill>
                  <a:srgbClr val="002060"/>
                </a:solidFill>
              </a:rPr>
              <a:t>Start a trial with an initial target sample size.</a:t>
            </a:r>
          </a:p>
          <a:p>
            <a:pPr marL="457200" lvl="1" indent="0" defTabSz="720000">
              <a:spcBef>
                <a:spcPts val="1800"/>
              </a:spcBef>
              <a:buNone/>
            </a:pPr>
            <a:r>
              <a:rPr lang="en-GB" dirty="0">
                <a:solidFill>
                  <a:srgbClr val="002060"/>
                </a:solidFill>
              </a:rPr>
              <a:t>Examine interim data: if appropriate, increase the sample size.</a:t>
            </a:r>
          </a:p>
          <a:p>
            <a:pPr marL="457200" lvl="1" indent="0" defTabSz="720000">
              <a:spcBef>
                <a:spcPts val="1800"/>
              </a:spcBef>
              <a:buNone/>
            </a:pPr>
            <a:r>
              <a:rPr lang="en-GB" dirty="0">
                <a:solidFill>
                  <a:srgbClr val="002060"/>
                </a:solidFill>
              </a:rPr>
              <a:t>Use a combination test, say, to protect the type I error rate.</a:t>
            </a:r>
          </a:p>
          <a:p>
            <a:pPr marL="0" indent="0" defTabSz="720000">
              <a:spcBef>
                <a:spcPts val="3600"/>
              </a:spcBef>
              <a:spcAft>
                <a:spcPts val="600"/>
              </a:spcAft>
              <a:buNone/>
            </a:pPr>
            <a:r>
              <a:rPr lang="en-GB" sz="2400" dirty="0">
                <a:solidFill>
                  <a:srgbClr val="002060"/>
                </a:solidFill>
              </a:rPr>
              <a:t>GSTs</a:t>
            </a:r>
          </a:p>
          <a:p>
            <a:pPr marL="457200" lvl="1" indent="0" defTabSz="720000">
              <a:spcBef>
                <a:spcPts val="1800"/>
              </a:spcBef>
              <a:buNone/>
            </a:pPr>
            <a:r>
              <a:rPr lang="en-GB" dirty="0">
                <a:solidFill>
                  <a:srgbClr val="002060"/>
                </a:solidFill>
              </a:rPr>
              <a:t>Plan the trial with a maximum sample size and early stopping rule.</a:t>
            </a:r>
          </a:p>
          <a:p>
            <a:pPr marL="0" indent="0" defTabSz="720000">
              <a:spcBef>
                <a:spcPts val="3600"/>
              </a:spcBef>
              <a:buNone/>
            </a:pPr>
            <a:r>
              <a:rPr lang="en-US" sz="2400" dirty="0">
                <a:solidFill>
                  <a:srgbClr val="FF0000"/>
                </a:solidFill>
              </a:rPr>
              <a:t>In both cases, the data determine the number of subjects observed.</a:t>
            </a:r>
          </a:p>
          <a:p>
            <a:pPr marL="0" indent="0" defTabSz="72000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519189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BBECA-B471-434A-B421-56F2FBD86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12" y="365126"/>
            <a:ext cx="6013194" cy="11461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Comparing GST and SSR designs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5C7EBC3-4672-4DAB-81C2-58661FAFA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8805" y="-2"/>
            <a:ext cx="6013194" cy="1511304"/>
          </a:xfrm>
          <a:custGeom>
            <a:avLst/>
            <a:gdLst>
              <a:gd name="connsiteX0" fmla="*/ 4545473 w 6013194"/>
              <a:gd name="connsiteY0" fmla="*/ 0 h 1511304"/>
              <a:gd name="connsiteX1" fmla="*/ 6013194 w 6013194"/>
              <a:gd name="connsiteY1" fmla="*/ 0 h 1511304"/>
              <a:gd name="connsiteX2" fmla="*/ 6013194 w 6013194"/>
              <a:gd name="connsiteY2" fmla="*/ 1508760 h 1511304"/>
              <a:gd name="connsiteX3" fmla="*/ 4545474 w 6013194"/>
              <a:gd name="connsiteY3" fmla="*/ 1508760 h 1511304"/>
              <a:gd name="connsiteX4" fmla="*/ 4545474 w 6013194"/>
              <a:gd name="connsiteY4" fmla="*/ 1511304 h 1511304"/>
              <a:gd name="connsiteX5" fmla="*/ 0 w 6013194"/>
              <a:gd name="connsiteY5" fmla="*/ 1511304 h 1511304"/>
              <a:gd name="connsiteX6" fmla="*/ 697617 w 6013194"/>
              <a:gd name="connsiteY6" fmla="*/ 3 h 1511304"/>
              <a:gd name="connsiteX7" fmla="*/ 4545473 w 6013194"/>
              <a:gd name="connsiteY7" fmla="*/ 3 h 151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13194" h="1511304">
                <a:moveTo>
                  <a:pt x="4545473" y="0"/>
                </a:moveTo>
                <a:lnTo>
                  <a:pt x="6013194" y="0"/>
                </a:lnTo>
                <a:lnTo>
                  <a:pt x="6013194" y="1508760"/>
                </a:lnTo>
                <a:lnTo>
                  <a:pt x="4545474" y="1508760"/>
                </a:lnTo>
                <a:lnTo>
                  <a:pt x="4545474" y="1511304"/>
                </a:lnTo>
                <a:lnTo>
                  <a:pt x="0" y="1511304"/>
                </a:lnTo>
                <a:lnTo>
                  <a:pt x="697617" y="3"/>
                </a:lnTo>
                <a:lnTo>
                  <a:pt x="4545473" y="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0BF962F-4C6F-461E-86F2-C43F56CC9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0797" y="1690688"/>
            <a:ext cx="8711202" cy="5167312"/>
          </a:xfrm>
          <a:custGeom>
            <a:avLst/>
            <a:gdLst>
              <a:gd name="connsiteX0" fmla="*/ 0 w 8711202"/>
              <a:gd name="connsiteY0" fmla="*/ 0 h 5167312"/>
              <a:gd name="connsiteX1" fmla="*/ 7243482 w 8711202"/>
              <a:gd name="connsiteY1" fmla="*/ 0 h 5167312"/>
              <a:gd name="connsiteX2" fmla="*/ 8711202 w 8711202"/>
              <a:gd name="connsiteY2" fmla="*/ 0 h 5167312"/>
              <a:gd name="connsiteX3" fmla="*/ 8711202 w 8711202"/>
              <a:gd name="connsiteY3" fmla="*/ 5167312 h 5167312"/>
              <a:gd name="connsiteX4" fmla="*/ 7243482 w 8711202"/>
              <a:gd name="connsiteY4" fmla="*/ 5167312 h 5167312"/>
              <a:gd name="connsiteX5" fmla="*/ 221324 w 8711202"/>
              <a:gd name="connsiteY5" fmla="*/ 5167312 h 5167312"/>
              <a:gd name="connsiteX6" fmla="*/ 2615203 w 8711202"/>
              <a:gd name="connsiteY6" fmla="*/ 952 h 5167312"/>
              <a:gd name="connsiteX7" fmla="*/ 0 w 8711202"/>
              <a:gd name="connsiteY7" fmla="*/ 952 h 516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1202" h="5167312">
                <a:moveTo>
                  <a:pt x="0" y="0"/>
                </a:moveTo>
                <a:lnTo>
                  <a:pt x="7243482" y="0"/>
                </a:lnTo>
                <a:lnTo>
                  <a:pt x="8711202" y="0"/>
                </a:lnTo>
                <a:lnTo>
                  <a:pt x="8711202" y="5167312"/>
                </a:lnTo>
                <a:lnTo>
                  <a:pt x="7243482" y="5167312"/>
                </a:lnTo>
                <a:lnTo>
                  <a:pt x="221324" y="5167312"/>
                </a:lnTo>
                <a:lnTo>
                  <a:pt x="2615203" y="952"/>
                </a:lnTo>
                <a:lnTo>
                  <a:pt x="0" y="952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E94A4F7-38E4-45EA-8E2E-CE1B5766B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5931454" cy="5166360"/>
          </a:xfrm>
          <a:custGeom>
            <a:avLst/>
            <a:gdLst>
              <a:gd name="connsiteX0" fmla="*/ 0 w 5931454"/>
              <a:gd name="connsiteY0" fmla="*/ 0 h 5166360"/>
              <a:gd name="connsiteX1" fmla="*/ 5931454 w 5931454"/>
              <a:gd name="connsiteY1" fmla="*/ 0 h 5166360"/>
              <a:gd name="connsiteX2" fmla="*/ 3537575 w 5931454"/>
              <a:gd name="connsiteY2" fmla="*/ 5166360 h 5166360"/>
              <a:gd name="connsiteX3" fmla="*/ 0 w 5931454"/>
              <a:gd name="connsiteY3" fmla="*/ 5166360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31454" h="5166360">
                <a:moveTo>
                  <a:pt x="0" y="0"/>
                </a:moveTo>
                <a:lnTo>
                  <a:pt x="5931454" y="0"/>
                </a:lnTo>
                <a:lnTo>
                  <a:pt x="3537575" y="5166360"/>
                </a:lnTo>
                <a:lnTo>
                  <a:pt x="0" y="5166360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EB2228-4E0A-4C4E-A84D-38918FE96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785" y="1795909"/>
            <a:ext cx="4624628" cy="506209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</a:rPr>
              <a:t>In both types of design, the final sample size is determined by the observed data.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</a:rPr>
              <a:t>Once a design is fully specified, we can compute its:</a:t>
            </a:r>
          </a:p>
          <a:p>
            <a:pPr marL="342900" indent="-228600">
              <a:lnSpc>
                <a:spcPct val="120000"/>
              </a:lnSpc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Power as a function of     treatment effect </a:t>
            </a:r>
            <a:r>
              <a:rPr lang="el-GR" sz="2400" dirty="0">
                <a:solidFill>
                  <a:srgbClr val="FFFFFF"/>
                </a:solidFill>
              </a:rPr>
              <a:t>ϴ</a:t>
            </a:r>
            <a:endParaRPr lang="en-US" sz="2400" dirty="0">
              <a:solidFill>
                <a:srgbClr val="FFFFFF"/>
              </a:solidFill>
            </a:endParaRPr>
          </a:p>
          <a:p>
            <a:pPr marL="342900" indent="-228600">
              <a:lnSpc>
                <a:spcPct val="120000"/>
              </a:lnSpc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E(Sample size) as a              function  of </a:t>
            </a:r>
            <a:r>
              <a:rPr lang="el-GR" sz="2400" dirty="0">
                <a:solidFill>
                  <a:srgbClr val="FFFFFF"/>
                </a:solidFill>
              </a:rPr>
              <a:t>ϴ</a:t>
            </a:r>
            <a:endParaRPr lang="en-US" sz="2400" dirty="0">
              <a:solidFill>
                <a:srgbClr val="FFFFFF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2079B0-C296-4FE6-A174-FB97D0A37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1455" y="1876430"/>
            <a:ext cx="6194760" cy="472031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2000" b="1" dirty="0">
                <a:solidFill>
                  <a:srgbClr val="0070C0"/>
                </a:solidFill>
              </a:rPr>
              <a:t>	Power curves	          Expected sample size 				      functions</a:t>
            </a:r>
          </a:p>
          <a:p>
            <a:pPr marL="0" indent="0">
              <a:lnSpc>
                <a:spcPct val="150000"/>
              </a:lnSpc>
              <a:spcBef>
                <a:spcPts val="1800"/>
              </a:spcBef>
              <a:buNone/>
            </a:pPr>
            <a:endParaRPr lang="en-GB" sz="2200" b="1" dirty="0">
              <a:solidFill>
                <a:srgbClr val="0070C0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1800"/>
              </a:spcBef>
              <a:buNone/>
            </a:pPr>
            <a:endParaRPr lang="en-GB" sz="2200" b="1" dirty="0">
              <a:solidFill>
                <a:srgbClr val="0070C0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1800"/>
              </a:spcBef>
              <a:buNone/>
            </a:pPr>
            <a:endParaRPr lang="en-GB" sz="2200" b="1" dirty="0">
              <a:solidFill>
                <a:srgbClr val="0070C0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1800"/>
              </a:spcBef>
              <a:buNone/>
            </a:pPr>
            <a:endParaRPr lang="en-GB" sz="2200" b="1" dirty="0">
              <a:solidFill>
                <a:srgbClr val="0070C0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1800"/>
              </a:spcBef>
              <a:buNone/>
            </a:pPr>
            <a:r>
              <a:rPr lang="en-GB" sz="2000" b="1" dirty="0">
                <a:solidFill>
                  <a:srgbClr val="0070C0"/>
                </a:solidFill>
              </a:rPr>
              <a:t>The two designs have almost identical power curves.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sz="2000" b="1" dirty="0">
                <a:solidFill>
                  <a:srgbClr val="0070C0"/>
                </a:solidFill>
              </a:rPr>
              <a:t>The red design has lower expected sample size for all </a:t>
            </a:r>
            <a:r>
              <a:rPr lang="az-Cyrl-AZ" sz="2000" b="1" dirty="0">
                <a:solidFill>
                  <a:srgbClr val="0070C0"/>
                </a:solidFill>
              </a:rPr>
              <a:t>Ө</a:t>
            </a:r>
            <a:r>
              <a:rPr lang="en-GB" sz="2000" b="1" dirty="0">
                <a:solidFill>
                  <a:srgbClr val="0070C0"/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1800"/>
              </a:spcBef>
              <a:buNone/>
            </a:pPr>
            <a:endParaRPr lang="en-GB" sz="2600" b="1" dirty="0">
              <a:solidFill>
                <a:srgbClr val="0070C0"/>
              </a:solidFill>
            </a:endParaRPr>
          </a:p>
        </p:txBody>
      </p:sp>
      <p:pic>
        <p:nvPicPr>
          <p:cNvPr id="6" name="Picture 5" descr="Chart, line chart, histogram&#10;&#10;Description automatically generated">
            <a:extLst>
              <a:ext uri="{FF2B5EF4-FFF2-40B4-BE49-F238E27FC236}">
                <a16:creationId xmlns:a16="http://schemas.microsoft.com/office/drawing/2014/main" id="{21628308-E35B-4BA8-9328-667F9446C7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4589" y="2721703"/>
            <a:ext cx="2757588" cy="2757588"/>
          </a:xfrm>
          <a:prstGeom prst="rect">
            <a:avLst/>
          </a:prstGeom>
        </p:spPr>
      </p:pic>
      <p:pic>
        <p:nvPicPr>
          <p:cNvPr id="8" name="Picture 7" descr="Chart, line chart, histogram&#10;&#10;Description automatically generated">
            <a:extLst>
              <a:ext uri="{FF2B5EF4-FFF2-40B4-BE49-F238E27FC236}">
                <a16:creationId xmlns:a16="http://schemas.microsoft.com/office/drawing/2014/main" id="{4CE68C46-147C-4BF1-98D0-BFBC482A88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5402" y="2721703"/>
            <a:ext cx="2757588" cy="2757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086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BBECA-B471-434A-B421-56F2FBD86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365126"/>
            <a:ext cx="6302125" cy="11461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Comparing GST and SSR designs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5C7EBC3-4672-4DAB-81C2-58661FAFA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8805" y="-2"/>
            <a:ext cx="6013194" cy="1511304"/>
          </a:xfrm>
          <a:custGeom>
            <a:avLst/>
            <a:gdLst>
              <a:gd name="connsiteX0" fmla="*/ 4545473 w 6013194"/>
              <a:gd name="connsiteY0" fmla="*/ 0 h 1511304"/>
              <a:gd name="connsiteX1" fmla="*/ 6013194 w 6013194"/>
              <a:gd name="connsiteY1" fmla="*/ 0 h 1511304"/>
              <a:gd name="connsiteX2" fmla="*/ 6013194 w 6013194"/>
              <a:gd name="connsiteY2" fmla="*/ 1508760 h 1511304"/>
              <a:gd name="connsiteX3" fmla="*/ 4545474 w 6013194"/>
              <a:gd name="connsiteY3" fmla="*/ 1508760 h 1511304"/>
              <a:gd name="connsiteX4" fmla="*/ 4545474 w 6013194"/>
              <a:gd name="connsiteY4" fmla="*/ 1511304 h 1511304"/>
              <a:gd name="connsiteX5" fmla="*/ 0 w 6013194"/>
              <a:gd name="connsiteY5" fmla="*/ 1511304 h 1511304"/>
              <a:gd name="connsiteX6" fmla="*/ 697617 w 6013194"/>
              <a:gd name="connsiteY6" fmla="*/ 3 h 1511304"/>
              <a:gd name="connsiteX7" fmla="*/ 4545473 w 6013194"/>
              <a:gd name="connsiteY7" fmla="*/ 3 h 151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13194" h="1511304">
                <a:moveTo>
                  <a:pt x="4545473" y="0"/>
                </a:moveTo>
                <a:lnTo>
                  <a:pt x="6013194" y="0"/>
                </a:lnTo>
                <a:lnTo>
                  <a:pt x="6013194" y="1508760"/>
                </a:lnTo>
                <a:lnTo>
                  <a:pt x="4545474" y="1508760"/>
                </a:lnTo>
                <a:lnTo>
                  <a:pt x="4545474" y="1511304"/>
                </a:lnTo>
                <a:lnTo>
                  <a:pt x="0" y="1511304"/>
                </a:lnTo>
                <a:lnTo>
                  <a:pt x="697617" y="3"/>
                </a:lnTo>
                <a:lnTo>
                  <a:pt x="4545473" y="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0BF962F-4C6F-461E-86F2-C43F56CC9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0797" y="1690688"/>
            <a:ext cx="8711202" cy="5167312"/>
          </a:xfrm>
          <a:custGeom>
            <a:avLst/>
            <a:gdLst>
              <a:gd name="connsiteX0" fmla="*/ 0 w 8711202"/>
              <a:gd name="connsiteY0" fmla="*/ 0 h 5167312"/>
              <a:gd name="connsiteX1" fmla="*/ 7243482 w 8711202"/>
              <a:gd name="connsiteY1" fmla="*/ 0 h 5167312"/>
              <a:gd name="connsiteX2" fmla="*/ 8711202 w 8711202"/>
              <a:gd name="connsiteY2" fmla="*/ 0 h 5167312"/>
              <a:gd name="connsiteX3" fmla="*/ 8711202 w 8711202"/>
              <a:gd name="connsiteY3" fmla="*/ 5167312 h 5167312"/>
              <a:gd name="connsiteX4" fmla="*/ 7243482 w 8711202"/>
              <a:gd name="connsiteY4" fmla="*/ 5167312 h 5167312"/>
              <a:gd name="connsiteX5" fmla="*/ 221324 w 8711202"/>
              <a:gd name="connsiteY5" fmla="*/ 5167312 h 5167312"/>
              <a:gd name="connsiteX6" fmla="*/ 2615203 w 8711202"/>
              <a:gd name="connsiteY6" fmla="*/ 952 h 5167312"/>
              <a:gd name="connsiteX7" fmla="*/ 0 w 8711202"/>
              <a:gd name="connsiteY7" fmla="*/ 952 h 516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1202" h="5167312">
                <a:moveTo>
                  <a:pt x="0" y="0"/>
                </a:moveTo>
                <a:lnTo>
                  <a:pt x="7243482" y="0"/>
                </a:lnTo>
                <a:lnTo>
                  <a:pt x="8711202" y="0"/>
                </a:lnTo>
                <a:lnTo>
                  <a:pt x="8711202" y="5167312"/>
                </a:lnTo>
                <a:lnTo>
                  <a:pt x="7243482" y="5167312"/>
                </a:lnTo>
                <a:lnTo>
                  <a:pt x="221324" y="5167312"/>
                </a:lnTo>
                <a:lnTo>
                  <a:pt x="2615203" y="952"/>
                </a:lnTo>
                <a:lnTo>
                  <a:pt x="0" y="952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E94A4F7-38E4-45EA-8E2E-CE1B5766B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5931454" cy="5166360"/>
          </a:xfrm>
          <a:custGeom>
            <a:avLst/>
            <a:gdLst>
              <a:gd name="connsiteX0" fmla="*/ 0 w 5931454"/>
              <a:gd name="connsiteY0" fmla="*/ 0 h 5166360"/>
              <a:gd name="connsiteX1" fmla="*/ 5931454 w 5931454"/>
              <a:gd name="connsiteY1" fmla="*/ 0 h 5166360"/>
              <a:gd name="connsiteX2" fmla="*/ 3537575 w 5931454"/>
              <a:gd name="connsiteY2" fmla="*/ 5166360 h 5166360"/>
              <a:gd name="connsiteX3" fmla="*/ 0 w 5931454"/>
              <a:gd name="connsiteY3" fmla="*/ 5166360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31454" h="5166360">
                <a:moveTo>
                  <a:pt x="0" y="0"/>
                </a:moveTo>
                <a:lnTo>
                  <a:pt x="5931454" y="0"/>
                </a:lnTo>
                <a:lnTo>
                  <a:pt x="3537575" y="5166360"/>
                </a:lnTo>
                <a:lnTo>
                  <a:pt x="0" y="5166360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EB2228-4E0A-4C4E-A84D-38918FE96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488" y="1778463"/>
            <a:ext cx="4455661" cy="434806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2400" dirty="0">
                <a:solidFill>
                  <a:srgbClr val="FFFFFF"/>
                </a:solidFill>
              </a:rPr>
              <a:t>CJ and Bruce Turnbull (2003, 2006, 2006) reported comparisons which showed traditional GSTs to have superior performance to a variety of SSR-based designs.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GB" sz="2400" dirty="0">
                <a:solidFill>
                  <a:srgbClr val="FFFFFF"/>
                </a:solidFill>
              </a:rPr>
              <a:t>When the most efficient forms of each type of design are compared,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2400" dirty="0">
                <a:solidFill>
                  <a:srgbClr val="FFFFFF"/>
                </a:solidFill>
              </a:rPr>
              <a:t>the SSR designs have a slight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2400" dirty="0">
                <a:solidFill>
                  <a:srgbClr val="FFFFFF"/>
                </a:solidFill>
              </a:rPr>
              <a:t>advantage – but they may be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2400" dirty="0">
                <a:solidFill>
                  <a:srgbClr val="FFFFFF"/>
                </a:solidFill>
              </a:rPr>
              <a:t>challenging to implement.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E75E970-36CD-4D73-8D8F-09EA0AD8D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0547" y="1876430"/>
            <a:ext cx="6172200" cy="48736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b="1" dirty="0">
                <a:solidFill>
                  <a:srgbClr val="0070C0"/>
                </a:solidFill>
              </a:rPr>
              <a:t>Efficiency of GSTs and SSR-based designs</a:t>
            </a:r>
          </a:p>
        </p:txBody>
      </p:sp>
      <p:pic>
        <p:nvPicPr>
          <p:cNvPr id="5" name="Picture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48F737F3-AFF8-4022-9B7A-CA5F5E5A11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767" y="2252699"/>
            <a:ext cx="4842588" cy="4497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125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BBECA-B471-434A-B421-56F2FBD86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365126"/>
            <a:ext cx="6302125" cy="11461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Mehta and Pocock (2011): Example 1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5C7EBC3-4672-4DAB-81C2-58661FAFA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8805" y="-2"/>
            <a:ext cx="6013194" cy="1511304"/>
          </a:xfrm>
          <a:custGeom>
            <a:avLst/>
            <a:gdLst>
              <a:gd name="connsiteX0" fmla="*/ 4545473 w 6013194"/>
              <a:gd name="connsiteY0" fmla="*/ 0 h 1511304"/>
              <a:gd name="connsiteX1" fmla="*/ 6013194 w 6013194"/>
              <a:gd name="connsiteY1" fmla="*/ 0 h 1511304"/>
              <a:gd name="connsiteX2" fmla="*/ 6013194 w 6013194"/>
              <a:gd name="connsiteY2" fmla="*/ 1508760 h 1511304"/>
              <a:gd name="connsiteX3" fmla="*/ 4545474 w 6013194"/>
              <a:gd name="connsiteY3" fmla="*/ 1508760 h 1511304"/>
              <a:gd name="connsiteX4" fmla="*/ 4545474 w 6013194"/>
              <a:gd name="connsiteY4" fmla="*/ 1511304 h 1511304"/>
              <a:gd name="connsiteX5" fmla="*/ 0 w 6013194"/>
              <a:gd name="connsiteY5" fmla="*/ 1511304 h 1511304"/>
              <a:gd name="connsiteX6" fmla="*/ 697617 w 6013194"/>
              <a:gd name="connsiteY6" fmla="*/ 3 h 1511304"/>
              <a:gd name="connsiteX7" fmla="*/ 4545473 w 6013194"/>
              <a:gd name="connsiteY7" fmla="*/ 3 h 151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13194" h="1511304">
                <a:moveTo>
                  <a:pt x="4545473" y="0"/>
                </a:moveTo>
                <a:lnTo>
                  <a:pt x="6013194" y="0"/>
                </a:lnTo>
                <a:lnTo>
                  <a:pt x="6013194" y="1508760"/>
                </a:lnTo>
                <a:lnTo>
                  <a:pt x="4545474" y="1508760"/>
                </a:lnTo>
                <a:lnTo>
                  <a:pt x="4545474" y="1511304"/>
                </a:lnTo>
                <a:lnTo>
                  <a:pt x="0" y="1511304"/>
                </a:lnTo>
                <a:lnTo>
                  <a:pt x="697617" y="3"/>
                </a:lnTo>
                <a:lnTo>
                  <a:pt x="4545473" y="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0BF962F-4C6F-461E-86F2-C43F56CC9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0797" y="1690688"/>
            <a:ext cx="8711202" cy="5167312"/>
          </a:xfrm>
          <a:custGeom>
            <a:avLst/>
            <a:gdLst>
              <a:gd name="connsiteX0" fmla="*/ 0 w 8711202"/>
              <a:gd name="connsiteY0" fmla="*/ 0 h 5167312"/>
              <a:gd name="connsiteX1" fmla="*/ 7243482 w 8711202"/>
              <a:gd name="connsiteY1" fmla="*/ 0 h 5167312"/>
              <a:gd name="connsiteX2" fmla="*/ 8711202 w 8711202"/>
              <a:gd name="connsiteY2" fmla="*/ 0 h 5167312"/>
              <a:gd name="connsiteX3" fmla="*/ 8711202 w 8711202"/>
              <a:gd name="connsiteY3" fmla="*/ 5167312 h 5167312"/>
              <a:gd name="connsiteX4" fmla="*/ 7243482 w 8711202"/>
              <a:gd name="connsiteY4" fmla="*/ 5167312 h 5167312"/>
              <a:gd name="connsiteX5" fmla="*/ 221324 w 8711202"/>
              <a:gd name="connsiteY5" fmla="*/ 5167312 h 5167312"/>
              <a:gd name="connsiteX6" fmla="*/ 2615203 w 8711202"/>
              <a:gd name="connsiteY6" fmla="*/ 952 h 5167312"/>
              <a:gd name="connsiteX7" fmla="*/ 0 w 8711202"/>
              <a:gd name="connsiteY7" fmla="*/ 952 h 516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1202" h="5167312">
                <a:moveTo>
                  <a:pt x="0" y="0"/>
                </a:moveTo>
                <a:lnTo>
                  <a:pt x="7243482" y="0"/>
                </a:lnTo>
                <a:lnTo>
                  <a:pt x="8711202" y="0"/>
                </a:lnTo>
                <a:lnTo>
                  <a:pt x="8711202" y="5167312"/>
                </a:lnTo>
                <a:lnTo>
                  <a:pt x="7243482" y="5167312"/>
                </a:lnTo>
                <a:lnTo>
                  <a:pt x="221324" y="5167312"/>
                </a:lnTo>
                <a:lnTo>
                  <a:pt x="2615203" y="952"/>
                </a:lnTo>
                <a:lnTo>
                  <a:pt x="0" y="952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E94A4F7-38E4-45EA-8E2E-CE1B5766B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5931454" cy="5166360"/>
          </a:xfrm>
          <a:custGeom>
            <a:avLst/>
            <a:gdLst>
              <a:gd name="connsiteX0" fmla="*/ 0 w 5931454"/>
              <a:gd name="connsiteY0" fmla="*/ 0 h 5166360"/>
              <a:gd name="connsiteX1" fmla="*/ 5931454 w 5931454"/>
              <a:gd name="connsiteY1" fmla="*/ 0 h 5166360"/>
              <a:gd name="connsiteX2" fmla="*/ 3537575 w 5931454"/>
              <a:gd name="connsiteY2" fmla="*/ 5166360 h 5166360"/>
              <a:gd name="connsiteX3" fmla="*/ 0 w 5931454"/>
              <a:gd name="connsiteY3" fmla="*/ 5166360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31454" h="5166360">
                <a:moveTo>
                  <a:pt x="0" y="0"/>
                </a:moveTo>
                <a:lnTo>
                  <a:pt x="5931454" y="0"/>
                </a:lnTo>
                <a:lnTo>
                  <a:pt x="3537575" y="5166360"/>
                </a:lnTo>
                <a:lnTo>
                  <a:pt x="0" y="5166360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EB2228-4E0A-4C4E-A84D-38918FE96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041" y="1787794"/>
            <a:ext cx="4455661" cy="434806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GB" sz="2400" dirty="0">
                <a:solidFill>
                  <a:srgbClr val="FFFFFF"/>
                </a:solidFill>
              </a:rPr>
              <a:t>CJ and BWT (2015) assessed the Promising Zone design and found superior performance in</a:t>
            </a:r>
          </a:p>
          <a:p>
            <a:pPr marL="342900" indent="-342900">
              <a:lnSpc>
                <a:spcPct val="110000"/>
              </a:lnSpc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FFFF"/>
                </a:solidFill>
              </a:rPr>
              <a:t>A 2-stage GST that is charged for but does not use “pipeline” data,</a:t>
            </a:r>
          </a:p>
          <a:p>
            <a:pPr marL="342900" indent="-342900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FFFF"/>
                </a:solidFill>
              </a:rPr>
              <a:t>A fixed sample design.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795C6AE-1BA6-4547-AC16-4649E9392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3641" y="1993933"/>
            <a:ext cx="6306085" cy="4602810"/>
          </a:xfrm>
        </p:spPr>
        <p:txBody>
          <a:bodyPr/>
          <a:lstStyle/>
          <a:p>
            <a:pPr marL="0" indent="0">
              <a:buNone/>
            </a:pPr>
            <a:r>
              <a:rPr lang="en-GB" sz="2400" b="1" dirty="0">
                <a:solidFill>
                  <a:srgbClr val="0070C0"/>
                </a:solidFill>
              </a:rPr>
              <a:t>      Sample size rules	        Expected sample size 			                  functions.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12" name="Picture 11" descr="Chart&#10;&#10;Description automatically generated">
            <a:extLst>
              <a:ext uri="{FF2B5EF4-FFF2-40B4-BE49-F238E27FC236}">
                <a16:creationId xmlns:a16="http://schemas.microsoft.com/office/drawing/2014/main" id="{064435ED-B9F6-40E5-B173-84E2DC9E4D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6304" y="2993569"/>
            <a:ext cx="2965727" cy="2965727"/>
          </a:xfrm>
          <a:prstGeom prst="rect">
            <a:avLst/>
          </a:prstGeom>
        </p:spPr>
      </p:pic>
      <p:pic>
        <p:nvPicPr>
          <p:cNvPr id="16" name="Picture 15" descr="Chart, line chart, histogram&#10;&#10;Description automatically generated">
            <a:extLst>
              <a:ext uri="{FF2B5EF4-FFF2-40B4-BE49-F238E27FC236}">
                <a16:creationId xmlns:a16="http://schemas.microsoft.com/office/drawing/2014/main" id="{A761ED99-05C6-452C-B5E1-545C894260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8" y="2993570"/>
            <a:ext cx="2965727" cy="2965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372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BBECA-B471-434A-B421-56F2FBD86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365126"/>
            <a:ext cx="6302125" cy="11461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GST vs SSR when there is a delayed response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5C7EBC3-4672-4DAB-81C2-58661FAFA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8805" y="-2"/>
            <a:ext cx="6013194" cy="1511304"/>
          </a:xfrm>
          <a:custGeom>
            <a:avLst/>
            <a:gdLst>
              <a:gd name="connsiteX0" fmla="*/ 4545473 w 6013194"/>
              <a:gd name="connsiteY0" fmla="*/ 0 h 1511304"/>
              <a:gd name="connsiteX1" fmla="*/ 6013194 w 6013194"/>
              <a:gd name="connsiteY1" fmla="*/ 0 h 1511304"/>
              <a:gd name="connsiteX2" fmla="*/ 6013194 w 6013194"/>
              <a:gd name="connsiteY2" fmla="*/ 1508760 h 1511304"/>
              <a:gd name="connsiteX3" fmla="*/ 4545474 w 6013194"/>
              <a:gd name="connsiteY3" fmla="*/ 1508760 h 1511304"/>
              <a:gd name="connsiteX4" fmla="*/ 4545474 w 6013194"/>
              <a:gd name="connsiteY4" fmla="*/ 1511304 h 1511304"/>
              <a:gd name="connsiteX5" fmla="*/ 0 w 6013194"/>
              <a:gd name="connsiteY5" fmla="*/ 1511304 h 1511304"/>
              <a:gd name="connsiteX6" fmla="*/ 697617 w 6013194"/>
              <a:gd name="connsiteY6" fmla="*/ 3 h 1511304"/>
              <a:gd name="connsiteX7" fmla="*/ 4545473 w 6013194"/>
              <a:gd name="connsiteY7" fmla="*/ 3 h 151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13194" h="1511304">
                <a:moveTo>
                  <a:pt x="4545473" y="0"/>
                </a:moveTo>
                <a:lnTo>
                  <a:pt x="6013194" y="0"/>
                </a:lnTo>
                <a:lnTo>
                  <a:pt x="6013194" y="1508760"/>
                </a:lnTo>
                <a:lnTo>
                  <a:pt x="4545474" y="1508760"/>
                </a:lnTo>
                <a:lnTo>
                  <a:pt x="4545474" y="1511304"/>
                </a:lnTo>
                <a:lnTo>
                  <a:pt x="0" y="1511304"/>
                </a:lnTo>
                <a:lnTo>
                  <a:pt x="697617" y="3"/>
                </a:lnTo>
                <a:lnTo>
                  <a:pt x="4545473" y="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0BF962F-4C6F-461E-86F2-C43F56CC9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0797" y="1690688"/>
            <a:ext cx="8711202" cy="5167312"/>
          </a:xfrm>
          <a:custGeom>
            <a:avLst/>
            <a:gdLst>
              <a:gd name="connsiteX0" fmla="*/ 0 w 8711202"/>
              <a:gd name="connsiteY0" fmla="*/ 0 h 5167312"/>
              <a:gd name="connsiteX1" fmla="*/ 7243482 w 8711202"/>
              <a:gd name="connsiteY1" fmla="*/ 0 h 5167312"/>
              <a:gd name="connsiteX2" fmla="*/ 8711202 w 8711202"/>
              <a:gd name="connsiteY2" fmla="*/ 0 h 5167312"/>
              <a:gd name="connsiteX3" fmla="*/ 8711202 w 8711202"/>
              <a:gd name="connsiteY3" fmla="*/ 5167312 h 5167312"/>
              <a:gd name="connsiteX4" fmla="*/ 7243482 w 8711202"/>
              <a:gd name="connsiteY4" fmla="*/ 5167312 h 5167312"/>
              <a:gd name="connsiteX5" fmla="*/ 221324 w 8711202"/>
              <a:gd name="connsiteY5" fmla="*/ 5167312 h 5167312"/>
              <a:gd name="connsiteX6" fmla="*/ 2615203 w 8711202"/>
              <a:gd name="connsiteY6" fmla="*/ 952 h 5167312"/>
              <a:gd name="connsiteX7" fmla="*/ 0 w 8711202"/>
              <a:gd name="connsiteY7" fmla="*/ 952 h 516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1202" h="5167312">
                <a:moveTo>
                  <a:pt x="0" y="0"/>
                </a:moveTo>
                <a:lnTo>
                  <a:pt x="7243482" y="0"/>
                </a:lnTo>
                <a:lnTo>
                  <a:pt x="8711202" y="0"/>
                </a:lnTo>
                <a:lnTo>
                  <a:pt x="8711202" y="5167312"/>
                </a:lnTo>
                <a:lnTo>
                  <a:pt x="7243482" y="5167312"/>
                </a:lnTo>
                <a:lnTo>
                  <a:pt x="221324" y="5167312"/>
                </a:lnTo>
                <a:lnTo>
                  <a:pt x="2615203" y="952"/>
                </a:lnTo>
                <a:lnTo>
                  <a:pt x="0" y="952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E94A4F7-38E4-45EA-8E2E-CE1B5766B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5931454" cy="5166360"/>
          </a:xfrm>
          <a:custGeom>
            <a:avLst/>
            <a:gdLst>
              <a:gd name="connsiteX0" fmla="*/ 0 w 5931454"/>
              <a:gd name="connsiteY0" fmla="*/ 0 h 5166360"/>
              <a:gd name="connsiteX1" fmla="*/ 5931454 w 5931454"/>
              <a:gd name="connsiteY1" fmla="*/ 0 h 5166360"/>
              <a:gd name="connsiteX2" fmla="*/ 3537575 w 5931454"/>
              <a:gd name="connsiteY2" fmla="*/ 5166360 h 5166360"/>
              <a:gd name="connsiteX3" fmla="*/ 0 w 5931454"/>
              <a:gd name="connsiteY3" fmla="*/ 5166360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31454" h="5166360">
                <a:moveTo>
                  <a:pt x="0" y="0"/>
                </a:moveTo>
                <a:lnTo>
                  <a:pt x="5931454" y="0"/>
                </a:lnTo>
                <a:lnTo>
                  <a:pt x="3537575" y="5166360"/>
                </a:lnTo>
                <a:lnTo>
                  <a:pt x="0" y="5166360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EB2228-4E0A-4C4E-A84D-38918FE96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041" y="1787794"/>
            <a:ext cx="4455661" cy="4348065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GB" sz="2400" dirty="0">
                <a:solidFill>
                  <a:srgbClr val="FFFFFF"/>
                </a:solidFill>
              </a:rPr>
              <a:t>Lisa Hampson and CJ (2013)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GB" sz="2400" dirty="0">
                <a:solidFill>
                  <a:srgbClr val="FFFFFF"/>
                </a:solidFill>
              </a:rPr>
              <a:t>defined efficient  GSTs for studies with a delayed response (DRGSTs).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GB" sz="2400" dirty="0">
                <a:solidFill>
                  <a:srgbClr val="FFFFFF"/>
                </a:solidFill>
              </a:rPr>
              <a:t>They reached similar conclusions about the relative efficient of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GB" sz="2400" dirty="0">
                <a:solidFill>
                  <a:srgbClr val="FFFFFF"/>
                </a:solidFill>
              </a:rPr>
              <a:t>DRGSTs and SSR-based designs.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GB" sz="2400" dirty="0">
              <a:solidFill>
                <a:srgbClr val="FFFFFF"/>
              </a:solidFill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GB" sz="2400" dirty="0">
                <a:solidFill>
                  <a:srgbClr val="FFFFFF"/>
                </a:solidFill>
              </a:rPr>
              <a:t>If the most efficient designs are compared, SSR designs have a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GB" sz="2400" dirty="0">
                <a:solidFill>
                  <a:srgbClr val="FFFFFF"/>
                </a:solidFill>
              </a:rPr>
              <a:t>slight advantage – but may be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GB" sz="2400" dirty="0">
                <a:solidFill>
                  <a:srgbClr val="FFFFFF"/>
                </a:solidFill>
              </a:rPr>
              <a:t>challenging to implement.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54A0A4-2AAE-47AD-8766-9A727592C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2124" y="1912776"/>
            <a:ext cx="5585076" cy="48519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b="1" dirty="0">
                <a:solidFill>
                  <a:srgbClr val="0070C0"/>
                </a:solidFill>
              </a:rPr>
              <a:t>Efficiency of GSTs and SSR-based designs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CD3E8D67-A509-41BB-97F8-94E938A82B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091" y="2293227"/>
            <a:ext cx="4870578" cy="447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921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BBECA-B471-434A-B421-56F2FBD86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365126"/>
            <a:ext cx="6302125" cy="11461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Mehta and Pocock (2011): Example 1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5C7EBC3-4672-4DAB-81C2-58661FAFA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8805" y="-2"/>
            <a:ext cx="6013194" cy="1511304"/>
          </a:xfrm>
          <a:custGeom>
            <a:avLst/>
            <a:gdLst>
              <a:gd name="connsiteX0" fmla="*/ 4545473 w 6013194"/>
              <a:gd name="connsiteY0" fmla="*/ 0 h 1511304"/>
              <a:gd name="connsiteX1" fmla="*/ 6013194 w 6013194"/>
              <a:gd name="connsiteY1" fmla="*/ 0 h 1511304"/>
              <a:gd name="connsiteX2" fmla="*/ 6013194 w 6013194"/>
              <a:gd name="connsiteY2" fmla="*/ 1508760 h 1511304"/>
              <a:gd name="connsiteX3" fmla="*/ 4545474 w 6013194"/>
              <a:gd name="connsiteY3" fmla="*/ 1508760 h 1511304"/>
              <a:gd name="connsiteX4" fmla="*/ 4545474 w 6013194"/>
              <a:gd name="connsiteY4" fmla="*/ 1511304 h 1511304"/>
              <a:gd name="connsiteX5" fmla="*/ 0 w 6013194"/>
              <a:gd name="connsiteY5" fmla="*/ 1511304 h 1511304"/>
              <a:gd name="connsiteX6" fmla="*/ 697617 w 6013194"/>
              <a:gd name="connsiteY6" fmla="*/ 3 h 1511304"/>
              <a:gd name="connsiteX7" fmla="*/ 4545473 w 6013194"/>
              <a:gd name="connsiteY7" fmla="*/ 3 h 151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13194" h="1511304">
                <a:moveTo>
                  <a:pt x="4545473" y="0"/>
                </a:moveTo>
                <a:lnTo>
                  <a:pt x="6013194" y="0"/>
                </a:lnTo>
                <a:lnTo>
                  <a:pt x="6013194" y="1508760"/>
                </a:lnTo>
                <a:lnTo>
                  <a:pt x="4545474" y="1508760"/>
                </a:lnTo>
                <a:lnTo>
                  <a:pt x="4545474" y="1511304"/>
                </a:lnTo>
                <a:lnTo>
                  <a:pt x="0" y="1511304"/>
                </a:lnTo>
                <a:lnTo>
                  <a:pt x="697617" y="3"/>
                </a:lnTo>
                <a:lnTo>
                  <a:pt x="4545473" y="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0BF962F-4C6F-461E-86F2-C43F56CC9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0797" y="1690688"/>
            <a:ext cx="8711202" cy="5167312"/>
          </a:xfrm>
          <a:custGeom>
            <a:avLst/>
            <a:gdLst>
              <a:gd name="connsiteX0" fmla="*/ 0 w 8711202"/>
              <a:gd name="connsiteY0" fmla="*/ 0 h 5167312"/>
              <a:gd name="connsiteX1" fmla="*/ 7243482 w 8711202"/>
              <a:gd name="connsiteY1" fmla="*/ 0 h 5167312"/>
              <a:gd name="connsiteX2" fmla="*/ 8711202 w 8711202"/>
              <a:gd name="connsiteY2" fmla="*/ 0 h 5167312"/>
              <a:gd name="connsiteX3" fmla="*/ 8711202 w 8711202"/>
              <a:gd name="connsiteY3" fmla="*/ 5167312 h 5167312"/>
              <a:gd name="connsiteX4" fmla="*/ 7243482 w 8711202"/>
              <a:gd name="connsiteY4" fmla="*/ 5167312 h 5167312"/>
              <a:gd name="connsiteX5" fmla="*/ 221324 w 8711202"/>
              <a:gd name="connsiteY5" fmla="*/ 5167312 h 5167312"/>
              <a:gd name="connsiteX6" fmla="*/ 2615203 w 8711202"/>
              <a:gd name="connsiteY6" fmla="*/ 952 h 5167312"/>
              <a:gd name="connsiteX7" fmla="*/ 0 w 8711202"/>
              <a:gd name="connsiteY7" fmla="*/ 952 h 516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1202" h="5167312">
                <a:moveTo>
                  <a:pt x="0" y="0"/>
                </a:moveTo>
                <a:lnTo>
                  <a:pt x="7243482" y="0"/>
                </a:lnTo>
                <a:lnTo>
                  <a:pt x="8711202" y="0"/>
                </a:lnTo>
                <a:lnTo>
                  <a:pt x="8711202" y="5167312"/>
                </a:lnTo>
                <a:lnTo>
                  <a:pt x="7243482" y="5167312"/>
                </a:lnTo>
                <a:lnTo>
                  <a:pt x="221324" y="5167312"/>
                </a:lnTo>
                <a:lnTo>
                  <a:pt x="2615203" y="952"/>
                </a:lnTo>
                <a:lnTo>
                  <a:pt x="0" y="952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E94A4F7-38E4-45EA-8E2E-CE1B5766B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5931454" cy="5166360"/>
          </a:xfrm>
          <a:custGeom>
            <a:avLst/>
            <a:gdLst>
              <a:gd name="connsiteX0" fmla="*/ 0 w 5931454"/>
              <a:gd name="connsiteY0" fmla="*/ 0 h 5166360"/>
              <a:gd name="connsiteX1" fmla="*/ 5931454 w 5931454"/>
              <a:gd name="connsiteY1" fmla="*/ 0 h 5166360"/>
              <a:gd name="connsiteX2" fmla="*/ 3537575 w 5931454"/>
              <a:gd name="connsiteY2" fmla="*/ 5166360 h 5166360"/>
              <a:gd name="connsiteX3" fmla="*/ 0 w 5931454"/>
              <a:gd name="connsiteY3" fmla="*/ 5166360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31454" h="5166360">
                <a:moveTo>
                  <a:pt x="0" y="0"/>
                </a:moveTo>
                <a:lnTo>
                  <a:pt x="5931454" y="0"/>
                </a:lnTo>
                <a:lnTo>
                  <a:pt x="3537575" y="5166360"/>
                </a:lnTo>
                <a:lnTo>
                  <a:pt x="0" y="5166360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EB2228-4E0A-4C4E-A84D-38918FE96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041" y="1787794"/>
            <a:ext cx="4455661" cy="3241406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GB" sz="3200" dirty="0">
                <a:solidFill>
                  <a:srgbClr val="FFFFFF"/>
                </a:solidFill>
              </a:rPr>
              <a:t>CJ and BWT (2015) recommended modifications to improve performance of the Promising Zone design.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ACAACA7-596F-4BC9-BEBF-6BE923195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0130" y="2034073"/>
            <a:ext cx="5178490" cy="4413380"/>
          </a:xfrm>
        </p:spPr>
        <p:txBody>
          <a:bodyPr/>
          <a:lstStyle/>
          <a:p>
            <a:r>
              <a:rPr lang="en-GB" dirty="0"/>
              <a:t>Use a combination test, not the Chen, </a:t>
            </a:r>
            <a:r>
              <a:rPr lang="en-GB" dirty="0" err="1"/>
              <a:t>DeMets</a:t>
            </a:r>
            <a:r>
              <a:rPr lang="en-GB" dirty="0"/>
              <a:t> &amp; Lan construction</a:t>
            </a:r>
          </a:p>
          <a:p>
            <a:pPr>
              <a:spcBef>
                <a:spcPts val="1800"/>
              </a:spcBef>
            </a:pPr>
            <a:r>
              <a:rPr lang="en-GB" dirty="0"/>
              <a:t>Apply a consistent “Rate of exchange” between sample size and conditional power</a:t>
            </a:r>
          </a:p>
          <a:p>
            <a:pPr>
              <a:spcBef>
                <a:spcPts val="1800"/>
              </a:spcBef>
            </a:pPr>
            <a:r>
              <a:rPr lang="en-GB" dirty="0"/>
              <a:t>Have a lower maximum sample size</a:t>
            </a:r>
          </a:p>
        </p:txBody>
      </p:sp>
    </p:spTree>
    <p:extLst>
      <p:ext uri="{BB962C8B-B14F-4D97-AF65-F5344CB8AC3E}">
        <p14:creationId xmlns:p14="http://schemas.microsoft.com/office/powerpoint/2010/main" val="2675119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BBECA-B471-434A-B421-56F2FBD86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365126"/>
            <a:ext cx="6302125" cy="11461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Recent developments in Promising Zone designs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5C7EBC3-4672-4DAB-81C2-58661FAFA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8805" y="-2"/>
            <a:ext cx="6013194" cy="1511304"/>
          </a:xfrm>
          <a:custGeom>
            <a:avLst/>
            <a:gdLst>
              <a:gd name="connsiteX0" fmla="*/ 4545473 w 6013194"/>
              <a:gd name="connsiteY0" fmla="*/ 0 h 1511304"/>
              <a:gd name="connsiteX1" fmla="*/ 6013194 w 6013194"/>
              <a:gd name="connsiteY1" fmla="*/ 0 h 1511304"/>
              <a:gd name="connsiteX2" fmla="*/ 6013194 w 6013194"/>
              <a:gd name="connsiteY2" fmla="*/ 1508760 h 1511304"/>
              <a:gd name="connsiteX3" fmla="*/ 4545474 w 6013194"/>
              <a:gd name="connsiteY3" fmla="*/ 1508760 h 1511304"/>
              <a:gd name="connsiteX4" fmla="*/ 4545474 w 6013194"/>
              <a:gd name="connsiteY4" fmla="*/ 1511304 h 1511304"/>
              <a:gd name="connsiteX5" fmla="*/ 0 w 6013194"/>
              <a:gd name="connsiteY5" fmla="*/ 1511304 h 1511304"/>
              <a:gd name="connsiteX6" fmla="*/ 697617 w 6013194"/>
              <a:gd name="connsiteY6" fmla="*/ 3 h 1511304"/>
              <a:gd name="connsiteX7" fmla="*/ 4545473 w 6013194"/>
              <a:gd name="connsiteY7" fmla="*/ 3 h 151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13194" h="1511304">
                <a:moveTo>
                  <a:pt x="4545473" y="0"/>
                </a:moveTo>
                <a:lnTo>
                  <a:pt x="6013194" y="0"/>
                </a:lnTo>
                <a:lnTo>
                  <a:pt x="6013194" y="1508760"/>
                </a:lnTo>
                <a:lnTo>
                  <a:pt x="4545474" y="1508760"/>
                </a:lnTo>
                <a:lnTo>
                  <a:pt x="4545474" y="1511304"/>
                </a:lnTo>
                <a:lnTo>
                  <a:pt x="0" y="1511304"/>
                </a:lnTo>
                <a:lnTo>
                  <a:pt x="697617" y="3"/>
                </a:lnTo>
                <a:lnTo>
                  <a:pt x="4545473" y="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0BF962F-4C6F-461E-86F2-C43F56CC9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0797" y="1690688"/>
            <a:ext cx="8711202" cy="5167312"/>
          </a:xfrm>
          <a:custGeom>
            <a:avLst/>
            <a:gdLst>
              <a:gd name="connsiteX0" fmla="*/ 0 w 8711202"/>
              <a:gd name="connsiteY0" fmla="*/ 0 h 5167312"/>
              <a:gd name="connsiteX1" fmla="*/ 7243482 w 8711202"/>
              <a:gd name="connsiteY1" fmla="*/ 0 h 5167312"/>
              <a:gd name="connsiteX2" fmla="*/ 8711202 w 8711202"/>
              <a:gd name="connsiteY2" fmla="*/ 0 h 5167312"/>
              <a:gd name="connsiteX3" fmla="*/ 8711202 w 8711202"/>
              <a:gd name="connsiteY3" fmla="*/ 5167312 h 5167312"/>
              <a:gd name="connsiteX4" fmla="*/ 7243482 w 8711202"/>
              <a:gd name="connsiteY4" fmla="*/ 5167312 h 5167312"/>
              <a:gd name="connsiteX5" fmla="*/ 221324 w 8711202"/>
              <a:gd name="connsiteY5" fmla="*/ 5167312 h 5167312"/>
              <a:gd name="connsiteX6" fmla="*/ 2615203 w 8711202"/>
              <a:gd name="connsiteY6" fmla="*/ 952 h 5167312"/>
              <a:gd name="connsiteX7" fmla="*/ 0 w 8711202"/>
              <a:gd name="connsiteY7" fmla="*/ 952 h 516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1202" h="5167312">
                <a:moveTo>
                  <a:pt x="0" y="0"/>
                </a:moveTo>
                <a:lnTo>
                  <a:pt x="7243482" y="0"/>
                </a:lnTo>
                <a:lnTo>
                  <a:pt x="8711202" y="0"/>
                </a:lnTo>
                <a:lnTo>
                  <a:pt x="8711202" y="5167312"/>
                </a:lnTo>
                <a:lnTo>
                  <a:pt x="7243482" y="5167312"/>
                </a:lnTo>
                <a:lnTo>
                  <a:pt x="221324" y="5167312"/>
                </a:lnTo>
                <a:lnTo>
                  <a:pt x="2615203" y="952"/>
                </a:lnTo>
                <a:lnTo>
                  <a:pt x="0" y="952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E94A4F7-38E4-45EA-8E2E-CE1B5766B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5931454" cy="5166360"/>
          </a:xfrm>
          <a:custGeom>
            <a:avLst/>
            <a:gdLst>
              <a:gd name="connsiteX0" fmla="*/ 0 w 5931454"/>
              <a:gd name="connsiteY0" fmla="*/ 0 h 5166360"/>
              <a:gd name="connsiteX1" fmla="*/ 5931454 w 5931454"/>
              <a:gd name="connsiteY1" fmla="*/ 0 h 5166360"/>
              <a:gd name="connsiteX2" fmla="*/ 3537575 w 5931454"/>
              <a:gd name="connsiteY2" fmla="*/ 5166360 h 5166360"/>
              <a:gd name="connsiteX3" fmla="*/ 0 w 5931454"/>
              <a:gd name="connsiteY3" fmla="*/ 5166360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31454" h="5166360">
                <a:moveTo>
                  <a:pt x="0" y="0"/>
                </a:moveTo>
                <a:lnTo>
                  <a:pt x="5931454" y="0"/>
                </a:lnTo>
                <a:lnTo>
                  <a:pt x="3537575" y="5166360"/>
                </a:lnTo>
                <a:lnTo>
                  <a:pt x="0" y="5166360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EB2228-4E0A-4C4E-A84D-38918FE96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041" y="1787794"/>
            <a:ext cx="4455661" cy="434806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GB" sz="2800" dirty="0">
                <a:solidFill>
                  <a:srgbClr val="FFFFFF"/>
                </a:solidFill>
              </a:rPr>
              <a:t>Hsiao, Liu and Mehta (2019) published new versions of the Promising Zone design.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GB" sz="2800" dirty="0">
              <a:solidFill>
                <a:srgbClr val="FFFFFF"/>
              </a:solidFill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GB" sz="2800" dirty="0">
                <a:solidFill>
                  <a:schemeClr val="bg1"/>
                </a:solidFill>
              </a:rPr>
              <a:t>They treat JT’s design as the “gold standard”.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GB" sz="2400" dirty="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GB" sz="2400" dirty="0">
              <a:solidFill>
                <a:srgbClr val="FFFFFF"/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ACAACA7-596F-4BC9-BEBF-6BE923195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0130" y="1884784"/>
            <a:ext cx="5691674" cy="4973216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GB" sz="2400" b="1" dirty="0">
                <a:solidFill>
                  <a:srgbClr val="0070C0"/>
                </a:solidFill>
              </a:rPr>
              <a:t>Now the Promising Zone design is efficient</a:t>
            </a:r>
          </a:p>
        </p:txBody>
      </p:sp>
      <p:pic>
        <p:nvPicPr>
          <p:cNvPr id="5" name="Picture 4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FD766208-BBEC-434B-9420-14C1087165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3125" y="2500602"/>
            <a:ext cx="4684554" cy="4218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113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1B215-F131-4BA2-8686-E28536BA7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870" y="436206"/>
            <a:ext cx="10505933" cy="1188720"/>
          </a:xfrm>
        </p:spPr>
        <p:txBody>
          <a:bodyPr>
            <a:normAutofit/>
          </a:bodyPr>
          <a:lstStyle/>
          <a:p>
            <a:pPr algn="ctr">
              <a:lnSpc>
                <a:spcPct val="120000"/>
              </a:lnSpc>
              <a:spcBef>
                <a:spcPts val="1800"/>
              </a:spcBef>
            </a:pPr>
            <a:r>
              <a:rPr lang="en-US" sz="3200" b="1" dirty="0">
                <a:solidFill>
                  <a:srgbClr val="002060"/>
                </a:solidFill>
              </a:rPr>
              <a:t>References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E5362-8495-429D-AC9B-10D90EDBD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2" y="1758354"/>
            <a:ext cx="9638851" cy="5006340"/>
          </a:xfrm>
        </p:spPr>
        <p:txBody>
          <a:bodyPr anchor="t">
            <a:normAutofit fontScale="32500" lnSpcReduction="20000"/>
          </a:bodyPr>
          <a:lstStyle/>
          <a:p>
            <a:pPr marL="0" indent="0" defTabSz="72000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5500" dirty="0">
                <a:solidFill>
                  <a:srgbClr val="002060"/>
                </a:solidFill>
              </a:rPr>
              <a:t>Jennison and Turnbull (2003, </a:t>
            </a:r>
            <a:r>
              <a:rPr lang="en-GB" sz="5500" i="1" dirty="0">
                <a:solidFill>
                  <a:srgbClr val="002060"/>
                </a:solidFill>
              </a:rPr>
              <a:t>Statistics in Medicine</a:t>
            </a:r>
            <a:r>
              <a:rPr lang="en-US" sz="5500" dirty="0">
                <a:solidFill>
                  <a:srgbClr val="002060"/>
                </a:solidFill>
              </a:rPr>
              <a:t>) </a:t>
            </a:r>
          </a:p>
          <a:p>
            <a:pPr marL="0" indent="0" defTabSz="72000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5500" dirty="0">
                <a:solidFill>
                  <a:srgbClr val="002060"/>
                </a:solidFill>
              </a:rPr>
              <a:t>“</a:t>
            </a:r>
            <a:r>
              <a:rPr lang="en-GB" sz="5500" dirty="0">
                <a:solidFill>
                  <a:srgbClr val="002060"/>
                </a:solidFill>
              </a:rPr>
              <a:t>Mid-course sample size modification in clinical trials based on the observed treatment effect.” </a:t>
            </a:r>
            <a:endParaRPr lang="en-GB" sz="5500" i="1" dirty="0">
              <a:solidFill>
                <a:srgbClr val="002060"/>
              </a:solidFill>
            </a:endParaRPr>
          </a:p>
          <a:p>
            <a:pPr marL="0" indent="0" defTabSz="720000">
              <a:lnSpc>
                <a:spcPct val="120000"/>
              </a:lnSpc>
              <a:spcBef>
                <a:spcPts val="1800"/>
              </a:spcBef>
              <a:buNone/>
            </a:pPr>
            <a:r>
              <a:rPr lang="en-US" sz="5500" dirty="0">
                <a:solidFill>
                  <a:srgbClr val="002060"/>
                </a:solidFill>
              </a:rPr>
              <a:t>Jennison and Turnbull (2006, </a:t>
            </a:r>
            <a:r>
              <a:rPr lang="en-GB" sz="5500" i="1" dirty="0" err="1">
                <a:solidFill>
                  <a:srgbClr val="002060"/>
                </a:solidFill>
              </a:rPr>
              <a:t>Biometrika</a:t>
            </a:r>
            <a:r>
              <a:rPr lang="en-US" sz="5500" dirty="0">
                <a:solidFill>
                  <a:srgbClr val="002060"/>
                </a:solidFill>
              </a:rPr>
              <a:t>)</a:t>
            </a:r>
          </a:p>
          <a:p>
            <a:pPr marL="0" indent="0" defTabSz="72000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5500" dirty="0">
                <a:solidFill>
                  <a:srgbClr val="002060"/>
                </a:solidFill>
              </a:rPr>
              <a:t>“</a:t>
            </a:r>
            <a:r>
              <a:rPr lang="en-GB" sz="5500" dirty="0">
                <a:solidFill>
                  <a:srgbClr val="002060"/>
                </a:solidFill>
              </a:rPr>
              <a:t>Adaptive and non-adaptive group sequential tests.”</a:t>
            </a:r>
          </a:p>
          <a:p>
            <a:pPr marL="0" indent="0" defTabSz="720000">
              <a:lnSpc>
                <a:spcPct val="120000"/>
              </a:lnSpc>
              <a:spcBef>
                <a:spcPts val="1800"/>
              </a:spcBef>
              <a:buNone/>
            </a:pPr>
            <a:r>
              <a:rPr lang="en-US" sz="5500" dirty="0">
                <a:solidFill>
                  <a:srgbClr val="002060"/>
                </a:solidFill>
              </a:rPr>
              <a:t>Jennison and Turnbull (2006, </a:t>
            </a:r>
            <a:r>
              <a:rPr lang="en-GB" sz="5500" i="1" dirty="0">
                <a:solidFill>
                  <a:srgbClr val="002060"/>
                </a:solidFill>
                <a:effectLst/>
              </a:rPr>
              <a:t>Statistics in Medicine</a:t>
            </a:r>
            <a:r>
              <a:rPr lang="en-US" sz="5500" dirty="0">
                <a:solidFill>
                  <a:srgbClr val="002060"/>
                </a:solidFill>
              </a:rPr>
              <a:t>) 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5500" dirty="0">
                <a:solidFill>
                  <a:srgbClr val="002060"/>
                </a:solidFill>
              </a:rPr>
              <a:t>“</a:t>
            </a:r>
            <a:r>
              <a:rPr lang="en-GB" sz="5500" dirty="0">
                <a:solidFill>
                  <a:srgbClr val="002060"/>
                </a:solidFill>
              </a:rPr>
              <a:t>E</a:t>
            </a:r>
            <a:r>
              <a:rPr lang="en-GB" sz="5500" dirty="0">
                <a:solidFill>
                  <a:srgbClr val="002060"/>
                </a:solidFill>
                <a:effectLst/>
              </a:rPr>
              <a:t>fficient group sequential designs when there are several effect sizes under consideration.”</a:t>
            </a:r>
            <a:endParaRPr lang="en-GB" sz="5500" i="1" dirty="0">
              <a:solidFill>
                <a:srgbClr val="002060"/>
              </a:solidFill>
              <a:effectLst/>
            </a:endParaRPr>
          </a:p>
          <a:p>
            <a:pPr marL="0" indent="0" defTabSz="720000">
              <a:lnSpc>
                <a:spcPct val="120000"/>
              </a:lnSpc>
              <a:spcBef>
                <a:spcPts val="1800"/>
              </a:spcBef>
              <a:buNone/>
            </a:pPr>
            <a:r>
              <a:rPr lang="en-GB" sz="5500" dirty="0">
                <a:solidFill>
                  <a:srgbClr val="002060"/>
                </a:solidFill>
                <a:effectLst/>
              </a:rPr>
              <a:t>Hampson and Jennison (2013, </a:t>
            </a:r>
            <a:r>
              <a:rPr lang="en-GB" sz="5500" i="1" dirty="0">
                <a:solidFill>
                  <a:srgbClr val="002060"/>
                </a:solidFill>
                <a:effectLst/>
              </a:rPr>
              <a:t>J. Royal Statistical Society, Series B</a:t>
            </a:r>
            <a:r>
              <a:rPr lang="en-GB" sz="5500" dirty="0">
                <a:solidFill>
                  <a:srgbClr val="002060"/>
                </a:solidFill>
                <a:effectLst/>
              </a:rPr>
              <a:t>)</a:t>
            </a:r>
          </a:p>
          <a:p>
            <a:pPr marL="0" indent="0" defTabSz="720000">
              <a:lnSpc>
                <a:spcPct val="120000"/>
              </a:lnSpc>
              <a:spcBef>
                <a:spcPts val="600"/>
              </a:spcBef>
              <a:buNone/>
            </a:pPr>
            <a:r>
              <a:rPr lang="en-GB" sz="5500" dirty="0">
                <a:solidFill>
                  <a:srgbClr val="002060"/>
                </a:solidFill>
                <a:effectLst/>
              </a:rPr>
              <a:t>“Group sequential tests for delayed responses.”</a:t>
            </a:r>
            <a:endParaRPr lang="en-GB" sz="5500" i="1" dirty="0">
              <a:solidFill>
                <a:srgbClr val="002060"/>
              </a:solidFill>
              <a:effectLst/>
            </a:endParaRPr>
          </a:p>
          <a:p>
            <a:pPr marL="0" indent="0" defTabSz="720000">
              <a:lnSpc>
                <a:spcPct val="120000"/>
              </a:lnSpc>
              <a:spcBef>
                <a:spcPts val="1800"/>
              </a:spcBef>
              <a:buNone/>
            </a:pPr>
            <a:r>
              <a:rPr lang="en-US" sz="5500" dirty="0">
                <a:solidFill>
                  <a:srgbClr val="002060"/>
                </a:solidFill>
              </a:rPr>
              <a:t>Jennison and Turnbull (2015, </a:t>
            </a:r>
            <a:r>
              <a:rPr lang="en-GB" sz="5500" i="1" dirty="0">
                <a:solidFill>
                  <a:srgbClr val="002060"/>
                </a:solidFill>
              </a:rPr>
              <a:t>Statistics in Medicine</a:t>
            </a:r>
            <a:r>
              <a:rPr lang="en-US" sz="5500" dirty="0">
                <a:solidFill>
                  <a:srgbClr val="002060"/>
                </a:solidFill>
              </a:rPr>
              <a:t>) 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5500" dirty="0">
                <a:solidFill>
                  <a:srgbClr val="002060"/>
                </a:solidFill>
              </a:rPr>
              <a:t>“</a:t>
            </a:r>
            <a:r>
              <a:rPr lang="en-GB" sz="5500" dirty="0">
                <a:solidFill>
                  <a:srgbClr val="002060"/>
                </a:solidFill>
              </a:rPr>
              <a:t>Adaptive sample size modification in clinical trials: Start small then ask for more?”</a:t>
            </a:r>
            <a:endParaRPr lang="en-US" sz="5500" i="1" dirty="0">
              <a:solidFill>
                <a:srgbClr val="002060"/>
              </a:solidFill>
            </a:endParaRPr>
          </a:p>
          <a:p>
            <a:pPr marL="0" indent="0" defTabSz="720000">
              <a:lnSpc>
                <a:spcPct val="120000"/>
              </a:lnSpc>
              <a:spcBef>
                <a:spcPts val="1800"/>
              </a:spcBef>
              <a:buNone/>
            </a:pPr>
            <a:r>
              <a:rPr lang="en-US" sz="5500" dirty="0">
                <a:solidFill>
                  <a:srgbClr val="002060"/>
                </a:solidFill>
              </a:rPr>
              <a:t>Hsiao, Liu and Mehta (2019, </a:t>
            </a:r>
            <a:r>
              <a:rPr lang="en-GB" sz="5500" i="1" dirty="0">
                <a:solidFill>
                  <a:srgbClr val="002060"/>
                </a:solidFill>
              </a:rPr>
              <a:t>Biometrical Journal</a:t>
            </a:r>
            <a:r>
              <a:rPr lang="en-US" sz="5500" dirty="0">
                <a:solidFill>
                  <a:srgbClr val="002060"/>
                </a:solidFill>
              </a:rPr>
              <a:t>)</a:t>
            </a:r>
          </a:p>
          <a:p>
            <a:pPr marL="0" indent="0" defTabSz="72000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5500" dirty="0">
                <a:solidFill>
                  <a:srgbClr val="002060"/>
                </a:solidFill>
              </a:rPr>
              <a:t>“O</a:t>
            </a:r>
            <a:r>
              <a:rPr lang="en-GB" sz="5500" dirty="0" err="1">
                <a:solidFill>
                  <a:srgbClr val="002060"/>
                </a:solidFill>
              </a:rPr>
              <a:t>ptimal</a:t>
            </a:r>
            <a:r>
              <a:rPr lang="en-GB" sz="5500" dirty="0">
                <a:solidFill>
                  <a:srgbClr val="002060"/>
                </a:solidFill>
              </a:rPr>
              <a:t> promising zone designs.”</a:t>
            </a:r>
            <a:endParaRPr lang="en-US" sz="5500" i="1" dirty="0">
              <a:solidFill>
                <a:srgbClr val="002060"/>
              </a:solidFill>
            </a:endParaRPr>
          </a:p>
          <a:p>
            <a:pPr marL="0" indent="0" defTabSz="720000">
              <a:lnSpc>
                <a:spcPct val="110000"/>
              </a:lnSpc>
              <a:spcBef>
                <a:spcPts val="600"/>
              </a:spcBef>
              <a:buNone/>
            </a:pPr>
            <a:endParaRPr lang="en-US" sz="2400" i="1" dirty="0">
              <a:solidFill>
                <a:srgbClr val="00206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400" i="1" dirty="0">
              <a:solidFill>
                <a:srgbClr val="002060"/>
              </a:solidFill>
            </a:endParaRPr>
          </a:p>
          <a:p>
            <a:pPr marL="0" indent="0" defTabSz="72000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153704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2312</TotalTime>
  <Words>809</Words>
  <Application>Microsoft Office PowerPoint</Application>
  <PresentationFormat>Widescreen</PresentationFormat>
  <Paragraphs>100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Discussion of Adaptive increase in sample size when interim results are promising: A practical guide with examples by Cyrus Mehta and Stuart Pocock (Statistics in Medicine 2011)</vt:lpstr>
      <vt:lpstr>The Sample Size Re-estimation (SSR) approach</vt:lpstr>
      <vt:lpstr>Group Sequential Tests (GSTs)</vt:lpstr>
      <vt:lpstr>Sample Size Re-estimation (SSR)  vs  Group Sequential Tests (GSTs)</vt:lpstr>
      <vt:lpstr>Comparing GST and SSR designs</vt:lpstr>
      <vt:lpstr>Comparing GST and SSR designs</vt:lpstr>
      <vt:lpstr>Mehta and Pocock (2011): Example 1</vt:lpstr>
      <vt:lpstr>GST vs SSR when there is a delayed response</vt:lpstr>
      <vt:lpstr>Mehta and Pocock (2011): Example 1</vt:lpstr>
      <vt:lpstr>Recent developments in Promising Zone designs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Analysis of Adaptive Clinical Trials: Addressing the Study Goals</dc:title>
  <dc:creator>Christopher Jennison</dc:creator>
  <cp:lastModifiedBy>Christopher Jennison</cp:lastModifiedBy>
  <cp:revision>89</cp:revision>
  <cp:lastPrinted>2021-12-14T15:12:03Z</cp:lastPrinted>
  <dcterms:created xsi:type="dcterms:W3CDTF">2020-09-02T16:39:42Z</dcterms:created>
  <dcterms:modified xsi:type="dcterms:W3CDTF">2021-12-14T16:38:38Z</dcterms:modified>
</cp:coreProperties>
</file>